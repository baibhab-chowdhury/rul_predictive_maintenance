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364706644042f7" /><Relationship Type="http://schemas.openxmlformats.org/officeDocument/2006/relationships/extended-properties" Target="/docProps/app.xml" Id="R578dc8ab326a4abe" /><Relationship Type="http://schemas.openxmlformats.org/officeDocument/2006/relationships/officeDocument" Target="/ppt/presentation.xml" Id="R34564c11be364d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675c4aa50c425d"/>
  </p:sldMasterIdLst>
  <p:notesMasterIdLst>
    <p:notesMasterId xmlns:r="http://schemas.openxmlformats.org/officeDocument/2006/relationships" r:id="Ra0776686d8fa4e0a"/>
  </p:notesMasterIdLst>
  <p:sldIdLst>
    <p:sldId xmlns:r="http://schemas.openxmlformats.org/officeDocument/2006/relationships" id="256" r:id="R10e6aeb0cebe428b"/>
    <p:sldId xmlns:r="http://schemas.openxmlformats.org/officeDocument/2006/relationships" id="257" r:id="R3dee730a216341ac"/>
    <p:sldId xmlns:r="http://schemas.openxmlformats.org/officeDocument/2006/relationships" id="258" r:id="Rbb1b9e81c3324e07"/>
    <p:sldId xmlns:r="http://schemas.openxmlformats.org/officeDocument/2006/relationships" id="259" r:id="R77f5c65e7c784480"/>
    <p:sldId xmlns:r="http://schemas.openxmlformats.org/officeDocument/2006/relationships" id="260" r:id="Ra18764a73c354076"/>
    <p:sldId xmlns:r="http://schemas.openxmlformats.org/officeDocument/2006/relationships" id="261" r:id="R4d388815a88c4b6d"/>
    <p:sldId xmlns:r="http://schemas.openxmlformats.org/officeDocument/2006/relationships" id="262" r:id="Rd0dc80d35fc64a69"/>
    <p:sldId xmlns:r="http://schemas.openxmlformats.org/officeDocument/2006/relationships" id="263" r:id="R8e512e3710e541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75c4aa50c425d" /><Relationship Type="http://schemas.openxmlformats.org/officeDocument/2006/relationships/theme" Target="/ppt/theme/theme1.xml" Id="R23c0d9dbe11b4a19" /><Relationship Type="http://schemas.openxmlformats.org/officeDocument/2006/relationships/notesMaster" Target="/ppt/notesMasters/notesMaster1.xml" Id="Ra0776686d8fa4e0a" /><Relationship Type="http://schemas.openxmlformats.org/officeDocument/2006/relationships/presProps" Target="/ppt/presProps.xml" Id="Rbaec8beaf2ed4dfe" /><Relationship Type="http://schemas.openxmlformats.org/officeDocument/2006/relationships/viewProps" Target="/ppt/viewProps.xml" Id="R0f9ed8783f554f50" /><Relationship Type="http://schemas.openxmlformats.org/officeDocument/2006/relationships/tableStyles" Target="/ppt/tableStyles.xml" Id="Re8a5e40c45f34dfc" /><Relationship Type="http://schemas.openxmlformats.org/officeDocument/2006/relationships/slide" Target="/ppt/slides/slide1.xml" Id="R10e6aeb0cebe428b" /><Relationship Type="http://schemas.openxmlformats.org/officeDocument/2006/relationships/slide" Target="/ppt/slides/slide2.xml" Id="R3dee730a216341ac" /><Relationship Type="http://schemas.openxmlformats.org/officeDocument/2006/relationships/slide" Target="/ppt/slides/slide3.xml" Id="Rbb1b9e81c3324e07" /><Relationship Type="http://schemas.openxmlformats.org/officeDocument/2006/relationships/slide" Target="/ppt/slides/slide4.xml" Id="R77f5c65e7c784480" /><Relationship Type="http://schemas.openxmlformats.org/officeDocument/2006/relationships/slide" Target="/ppt/slides/slide5.xml" Id="Ra18764a73c354076" /><Relationship Type="http://schemas.openxmlformats.org/officeDocument/2006/relationships/slide" Target="/ppt/slides/slide6.xml" Id="R4d388815a88c4b6d" /><Relationship Type="http://schemas.openxmlformats.org/officeDocument/2006/relationships/slide" Target="/ppt/slides/slide7.xml" Id="Rd0dc80d35fc64a69" /><Relationship Type="http://schemas.openxmlformats.org/officeDocument/2006/relationships/slide" Target="/ppt/slides/slide8.xml" Id="R8e512e3710e541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ba8d96ee65c46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RUL Theme">
  <a:themeElements>
    <a:clrScheme name="RUL Theme">
      <a:accent1>
        <a:srgbClr val="1FA37A"/>
      </a:accent1>
      <a:accent2>
        <a:srgbClr val="D4A24E"/>
      </a:accent2>
      <a:accent3>
        <a:srgbClr val="E68053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UL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e21c967e8c4463" /><Relationship Type="http://schemas.openxmlformats.org/officeDocument/2006/relationships/notesMaster" Target="/ppt/notesMasters/notesMaster1.xml" Id="Rb5facbb8f1a94f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4d16ef69bc46d8" /><Relationship Type="http://schemas.openxmlformats.org/officeDocument/2006/relationships/notesMaster" Target="/ppt/notesMasters/notesMaster1.xml" Id="R52295b2fc6e94c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b03d6c44654c8f" /><Relationship Type="http://schemas.openxmlformats.org/officeDocument/2006/relationships/notesMaster" Target="/ppt/notesMasters/notesMaster1.xml" Id="Rdc985d7a317f40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54c77c9e884e76" /><Relationship Type="http://schemas.openxmlformats.org/officeDocument/2006/relationships/notesMaster" Target="/ppt/notesMasters/notesMaster1.xml" Id="R90e313e84f2342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10c8aaceaf4639" /><Relationship Type="http://schemas.openxmlformats.org/officeDocument/2006/relationships/notesMaster" Target="/ppt/notesMasters/notesMaster1.xml" Id="Rc629da7c036a45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34896ef23e4f0e" /><Relationship Type="http://schemas.openxmlformats.org/officeDocument/2006/relationships/notesMaster" Target="/ppt/notesMasters/notesMaster1.xml" Id="Rba9fb5acfa4949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c419497b714845" /><Relationship Type="http://schemas.openxmlformats.org/officeDocument/2006/relationships/notesMaster" Target="/ppt/notesMasters/notesMaster1.xml" Id="R24bc9a766fbe40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7d24ed509a435d" /><Relationship Type="http://schemas.openxmlformats.org/officeDocument/2006/relationships/notesMaster" Target="/ppt/notesMasters/notesMaster1.xml" Id="Rc415b006224a4f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slide with student credentials, exact topic wording from the user, and the project framing.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notebooks and processed CSV files in this repository: data/raw, data/processed, notebooks/01-04.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Abstract slide summarizing the goal, workflow, and practical relevance.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NASA C-MAPSS FD001 turbofan engine degradation dataset used in the project repository.</a:t>
            </a:r>
          </a:p>
          <a:p xmlns:a="http://schemas.openxmlformats.org/drawingml/2006/main">
            <a:r>
              <a:t>- Project notebooks and processed CSV files in this repository: data/raw, data/processed, notebooks/01-04.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slide with the exact row and column counts pulled from the repository data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NASA C-MAPSS FD001 turbofan engine degradation dataset used in the project repository.</a:t>
            </a:r>
          </a:p>
          <a:p xmlns:a="http://schemas.openxmlformats.org/drawingml/2006/main">
            <a:r>
              <a:t>- Project notebooks and processed CSV files in this repository: data/raw, data/processed, notebooks/01-04.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Column-filtering slide showing what was removed, why the columns were unhelpful, and the variance-based rule used in the notebook.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notebooks and processed CSV files in this repository: data/raw, data/processed, notebooks/01-04.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Feature-engineering slide explaining the rolling statistics, clipped target, scaling step, and why each step is useful for this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notebooks and processed CSV files in this repository: data/raw, data/processed, notebooks/01-04.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slide covering target creation, feature preparation, and the engine-level train/validation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notebooks and processed CSV files in this repository: data/raw, data/processed, notebooks/01-04.</a:t>
            </a:r>
          </a:p>
          <a:p xmlns:a="http://schemas.openxmlformats.org/drawingml/2006/main">
            <a:r>
              <a:t>- Validation metrics recomputed from train_FD001_engineered.csv using Linear Regression, Lasso Regression, and Ridge Regression.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Model-comparison setup slide limited to linear, lasso, and ridge regression with the reasons each model is relevant.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Validation metrics recomputed from train_FD001_engineered.csv using Linear Regression, Lasso Regression, and Ridge Regression.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 with the exact validation metrics and the final model selection statement.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Validation metrics recomputed from train_FD001_engineered.csv using Linear Regression, Lasso Regression, and Ridge Regression.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fc0bebf7084a4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5fffbac3e6a431c" /><Relationship Type="http://schemas.openxmlformats.org/officeDocument/2006/relationships/slideLayout" Target="/ppt/slideLayouts/slideLayout2.xml" Id="R1944e16a62054c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44e16a62054c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c3048f39184109" /><Relationship Type="http://schemas.openxmlformats.org/officeDocument/2006/relationships/notesSlide" Target="/ppt/notesSlides/notesSlide1.xml" Id="R47f24c82f4f74e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04d5b2bdff4391" /><Relationship Type="http://schemas.openxmlformats.org/officeDocument/2006/relationships/notesSlide" Target="/ppt/notesSlides/notesSlide2.xml" Id="R18f0eefd293f4d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1bbb7786f64241" /><Relationship Type="http://schemas.openxmlformats.org/officeDocument/2006/relationships/notesSlide" Target="/ppt/notesSlides/notesSlide3.xml" Id="R40b10ca4a0c34d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2f4aa4423746be" /><Relationship Type="http://schemas.openxmlformats.org/officeDocument/2006/relationships/notesSlide" Target="/ppt/notesSlides/notesSlide4.xml" Id="Rea9a1fd702a846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6588ae1f874c08" /><Relationship Type="http://schemas.openxmlformats.org/officeDocument/2006/relationships/notesSlide" Target="/ppt/notesSlides/notesSlide5.xml" Id="R1a40705ff8bd47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403e04bb684f02" /><Relationship Type="http://schemas.openxmlformats.org/officeDocument/2006/relationships/notesSlide" Target="/ppt/notesSlides/notesSlide6.xml" Id="Re8e4a937e1134c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002f6f2bc0421d" /><Relationship Type="http://schemas.openxmlformats.org/officeDocument/2006/relationships/notesSlide" Target="/ppt/notesSlides/notesSlide7.xml" Id="R43d67ba1a00c45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f9dd8b69894eb4" /><Relationship Type="http://schemas.openxmlformats.org/officeDocument/2006/relationships/notesSlide" Target="/ppt/notesSlides/notesSlide8.xml" Id="R9b7f42c6e18c49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257FF5-86EE-44F0-85B0-F2363A4C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-9715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26E20-F4BE-4F29-9A7F-CE8A91F3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86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A37A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A4CC4-C422-4970-A683-7BD9B3B7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28700" y="48577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DB1C2-C27D-4E17-9693-03B3ABDC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" y="54102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053">
              <a:alpha val="1686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2B7CC-79DF-4D1A-95AF-B7B24A5B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C9DB9-9CEE-411A-B3A6-C8AF90A5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6745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23D69-E27B-482A-AB12-E4780AA0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4288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3C26B-DFC6-4B47-92C0-8312135B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71500"/>
            <a:ext cx="14288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A7589-30EA-4310-8B8F-0B054934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906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E66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6CC47-FE17-4ED1-A66C-DB724556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A0B13-416D-4E9F-B51F-1A547D63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383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D287B-56AC-4FE6-8E5D-C6031E05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543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55166-1F85-4232-847A-76943EDE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44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PREDICTIVE MAINTENANCE 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B491D-2515-4461-841A-A836314A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5905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12B"/>
                </a:solidFill>
              </a:defRPr>
            </a:pPr>
            <a:r>
              <a:rPr sz="330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Predicting Remaining Unit Life of Turbojet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DED7C-CB51-4A54-8F6F-BDE5AB40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24D"/>
                </a:solidFill>
              </a:defRPr>
            </a:pPr>
            <a:r>
              <a:rPr sz="1500" b="0">
                <a:solidFill>
                  <a:srgbClr val="33424D"/>
                </a:solidFill>
                <a:latin typeface="Lato"/>
                <a:ea typeface="Lato"/>
                <a:cs typeface="Lato"/>
              </a:rPr>
              <a:t>Regression-based estimation of engine degradation using the NASA C-MAPSS FD001 sensor dataset.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BB2C4-F0BD-4E6E-8331-43AE7737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19100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D8A16-1538-4F23-BF65-252D11D7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0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E6EC2-A7E5-40AC-934D-8159CEDA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Prepared by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81DFA-811B-4860-AEF5-358965AE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3657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2B"/>
                </a:solidFill>
              </a:defRPr>
            </a:pPr>
            <a:r>
              <a:rPr sz="19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BAIBHAB CHOWDHURY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5778E9-500A-429B-ACF4-FDBB09AB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16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24D"/>
                </a:solidFill>
              </a:defRPr>
            </a:pPr>
            <a:r>
              <a:rPr sz="127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Roll: 0738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03E7AE-475D-4920-85F3-9CECAE7F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24D"/>
                </a:solidFill>
              </a:defRPr>
            </a:pPr>
            <a:r>
              <a:rPr sz="127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Reg. No. - 012-1111-1008-21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041BAF-6209-4EE0-9E93-5D5615B8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383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5240">
            <a:solidFill>
              <a:srgbClr val="1FA3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097570-3024-4436-814D-8784D5DF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3365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A37A">
              <a:alpha val="11373"/>
            </a:srgbClr>
          </a:solidFill>
          <a:ln xmlns:a="http://schemas.openxmlformats.org/drawingml/2006/main" w="13335">
            <a:solidFill>
              <a:srgbClr val="1FA3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49A001-2E03-431B-ADB7-502C5C9C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99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1FA3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A5708-96BE-467D-8B9E-E2A36690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2114550"/>
            <a:ext cx="152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7464FD-D6F9-4C77-8A63-BB6B977C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9620250" y="2457450"/>
            <a:ext cx="152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57E476-60D2-4CFB-AD03-9BB16011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944100" y="3238500"/>
            <a:ext cx="152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B12693-FF46-4708-937C-8BCA54A2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9620250" y="4019550"/>
            <a:ext cx="152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39C9D3-9766-405E-96A1-C526B3F9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4362450"/>
            <a:ext cx="152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3A8D51-8E07-43A4-83A6-D09174A0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020050" y="4019550"/>
            <a:ext cx="152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C41C70-BC66-4983-96B4-056FC5F1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96200" y="3238500"/>
            <a:ext cx="152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67013A-6DDD-430E-ABA3-4B43D036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8020050" y="2457450"/>
            <a:ext cx="152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E2E7B1-7583-4639-A388-D24C510F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53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24D"/>
                </a:solidFill>
              </a:defRPr>
            </a:pPr>
            <a:r>
              <a:rPr sz="1050" b="0">
                <a:solidFill>
                  <a:srgbClr val="33424D"/>
                </a:solidFill>
                <a:latin typeface="Lato"/>
                <a:ea typeface="Lato"/>
                <a:cs typeface="Lato"/>
              </a:rPr>
              <a:t>Theme: Remaining Useful Life (RUL) prediction for turbofan engines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3F6BB7-F9FD-4F58-B6A3-17A5F123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981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37D"/>
                </a:solidFill>
              </a:defRPr>
            </a:pPr>
            <a:r>
              <a:rPr sz="900" b="1">
                <a:solidFill>
                  <a:srgbClr val="65737D"/>
                </a:solidFill>
                <a:latin typeface="Aptos Mono"/>
                <a:ea typeface="Aptos Mono"/>
                <a:cs typeface="Aptos Mono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534317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7E9CF9-C3E0-4451-8D6F-D94BF55E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-8953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1083D-1F33-41F5-B830-774051BA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19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A37A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86552-8322-42BC-ABC3-01D10BA7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1440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833BE-158B-48F9-9907-624E9657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530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053">
              <a:alpha val="1686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CC508-3612-4FB2-818A-6021E104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007CE-5747-46B6-92A4-F72790AD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6745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22892-1E6D-4FF3-8C03-6668A239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4288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BD4AF-123D-442C-90DA-A783BE92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71500"/>
            <a:ext cx="14288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85AEB-AE77-4BC8-A1E5-BD83B063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191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651"/>
                </a:solidFill>
              </a:defRPr>
            </a:pPr>
            <a:r>
              <a:rPr sz="90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02 / 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223E3-26DF-42D3-8B2F-31F83A9A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651"/>
                </a:solidFill>
              </a:defRPr>
            </a:pPr>
            <a:r>
              <a:rPr sz="97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PROJECT ABSTRACT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7ABB1-8059-410D-97AC-80CF89E2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2395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2B"/>
                </a:solidFill>
              </a:defRPr>
            </a:pPr>
            <a:r>
              <a:rPr sz="25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Why this project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415F4-F9E6-4588-9BD6-335F1EBA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24D"/>
                </a:solidFill>
              </a:defRPr>
            </a:pPr>
            <a:r>
              <a:rPr sz="1350" b="0">
                <a:solidFill>
                  <a:srgbClr val="33424D"/>
                </a:solidFill>
                <a:latin typeface="Lato"/>
                <a:ea typeface="Lato"/>
                <a:cs typeface="Lato"/>
              </a:rPr>
              <a:t>Predictive maintenance aims to estimate failure early enough to plan maintenance before breakdown.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D4764-89ED-4BDC-9816-B41DA192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59055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0A61C-2B33-4951-A5C6-0D5E3760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762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0EA7E-1716-4251-BCB4-285A47C3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53721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This project predicts the Remaining Useful Life (RUL) of turbofan</a:t>
            </a:r>
          </a:p>
          <a:p xmlns:a="http://schemas.openxmlformats.org/drawingml/2006/main">
            <a:pPr algn="l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engines from multivariate time-series sensor readings in the NASA</a:t>
            </a:r>
          </a:p>
          <a:p xmlns:a="http://schemas.openxmlformats.org/drawingml/2006/main">
            <a:pPr algn="l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C-MAPSS FD001 dataset. The workflow creates cycle-wise RUL targets,</a:t>
            </a:r>
          </a:p>
          <a:p xmlns:a="http://schemas.openxmlformats.org/drawingml/2006/main">
            <a:pPr algn="l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removes near-constant columns, engineers rolling statistical</a:t>
            </a:r>
          </a:p>
          <a:p xmlns:a="http://schemas.openxmlformats.org/drawingml/2006/main">
            <a:pPr algn="l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features, scales the predictors, and then compares linear, lasso, and</a:t>
            </a:r>
          </a:p>
          <a:p xmlns:a="http://schemas.openxmlformats.org/drawingml/2006/main">
            <a:pPr algn="l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ridge regression models. A reliable RUL estimate helps schedule</a:t>
            </a:r>
          </a:p>
          <a:p xmlns:a="http://schemas.openxmlformats.org/drawingml/2006/main">
            <a:pPr algn="l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inspection or component replacement before complete failure, which</a:t>
            </a:r>
          </a:p>
          <a:p xmlns:a="http://schemas.openxmlformats.org/drawingml/2006/main">
            <a:pPr algn="l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supports safer operation and reduces unexpected downtime.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F2C5F-5313-4848-855F-645969F2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43200"/>
            <a:ext cx="35433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DF8">
              <a:alpha val="90980"/>
            </a:srgbClr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D9EA1-450E-4BAF-A42D-2593F01B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4320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EAC9F4-B421-4744-B0F4-037379FD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527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Objective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AC625-3AEB-4B08-B55A-C412AF8A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57550"/>
            <a:ext cx="3086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Estimate how many operating cycles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remain before an engine needs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maintenance using cycle, setting, and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sensor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03870-2F45-4AE3-86C3-DB9F36DC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67200"/>
            <a:ext cx="35433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DF8">
              <a:alpha val="90980"/>
            </a:srgbClr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05D214-B0F0-475E-B847-D76C4E18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6720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0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DA4413-5DBA-46FE-B4E4-4832F2A2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767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71B62-3FB3-4C4D-94D0-3B38EB9D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81550"/>
            <a:ext cx="3086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The model converts sensor history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into an early maintenance forecast,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reducing unexpected failure and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reactive repair.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D58B0B-8B8F-459B-85A6-5FA6B26D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7D"/>
                </a:solidFill>
              </a:defRPr>
            </a:pPr>
            <a:r>
              <a:rPr sz="750" b="0">
                <a:solidFill>
                  <a:srgbClr val="65737D"/>
                </a:solidFill>
                <a:latin typeface="Lato"/>
                <a:ea typeface="Lato"/>
                <a:cs typeface="Lato"/>
              </a:rPr>
              <a:t>Source: NASA C-MAPSS FD001 and project notebooks</a:t>
            </a:r>
          </a:p>
        </p:txBody>
      </p:sp>
    </p:spTree>
    <p:extLst>
      <p:ext uri="{BB962C8B-B14F-4D97-AF65-F5344CB8AC3E}">
        <p14:creationId xmlns:p14="http://schemas.microsoft.com/office/powerpoint/2010/main" val="4634339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F36278-07D5-4FDD-B792-C2236582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8191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9D7E6-E2BF-4B81-B725-F1E167B7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A37A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20A52-FC75-4E8F-87FF-7DBF0F53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00100" y="46672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520DC-0142-4485-AEE6-B11E674A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2959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053">
              <a:alpha val="1686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C5B7E-F3D7-4E77-B3BF-CBF87CAC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E6C0A-81F8-42C1-8E86-7C114AF3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6745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B5241-4393-4AAD-A657-FD0D954F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4288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2A983-3CD6-477A-95A5-0A85076A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71500"/>
            <a:ext cx="14288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C7D04-49CE-4E29-90F1-C3D7DE09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191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651"/>
                </a:solidFill>
              </a:defRPr>
            </a:pPr>
            <a:r>
              <a:rPr sz="90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03 / 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618B1-09A0-40B0-94D3-279526BA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651"/>
                </a:solidFill>
              </a:defRPr>
            </a:pPr>
            <a:r>
              <a:rPr sz="97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CHOSEN 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210EB-9584-4BE5-887A-7BC4792D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2395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2B"/>
                </a:solidFill>
              </a:defRPr>
            </a:pPr>
            <a:r>
              <a:rPr sz="25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NASA C-MAPSS FD001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9C861-0889-49EE-A4D4-7C404780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24D"/>
                </a:solidFill>
              </a:defRPr>
            </a:pPr>
            <a:r>
              <a:rPr sz="1350" b="0">
                <a:solidFill>
                  <a:srgbClr val="33424D"/>
                </a:solidFill>
                <a:latin typeface="Lato"/>
                <a:ea typeface="Lato"/>
                <a:cs typeface="Lato"/>
              </a:rPr>
              <a:t>The project uses one operating-condition subset of the simulated turbofan degradation benchmark.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B6041-AB92-45BB-AAFB-B498EEF3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4577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DF8">
              <a:alpha val="90980"/>
            </a:srgbClr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8E7F9-6730-4181-BA2F-903AA2BF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762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B87C5-A2FA-4C88-886A-8B0C8BF0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407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What it 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46D0C-660B-4DBC-A612-4C87CE51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4000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FD001 is a run-to-failure turbofan engine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dataset. Each row records one engine cycle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with engine id, cycle index, 3 operational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settings, and 21 sensor measurements. The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training split contains 100 engines observed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until failure.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B5D89-157D-4B1E-93A6-989D6FFA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8130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63790-47BF-407E-A25C-C19EF522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813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674C1-6260-4281-84B3-2A84B672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099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12B"/>
                </a:solidFill>
              </a:defRPr>
            </a:pPr>
            <a:r>
              <a:rPr sz="240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20,631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07E98-AECC-4585-A56A-5D93FA16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671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24D"/>
                </a:solidFill>
              </a:defRPr>
            </a:pPr>
            <a:r>
              <a:rPr sz="112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rows in train_FD001.txt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77874-F383-4878-8897-7BC16D2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D43811-A661-4734-B868-F97FAE9A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6991C7-E417-4212-A42F-BD66DBBB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12B"/>
                </a:solidFill>
              </a:defRPr>
            </a:pPr>
            <a:r>
              <a:rPr sz="240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C4A01C-0BA0-42F6-9584-AA88BF3B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671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24D"/>
                </a:solidFill>
              </a:defRPr>
            </a:pPr>
            <a:r>
              <a:rPr sz="112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raw columns before RUL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21C48C-ABCC-4D8E-9DB1-53069D56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884E23-738D-45FC-8599-F553E422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0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E6E62E-D2D9-410F-B191-3AE3A4FA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243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12B"/>
                </a:solidFill>
              </a:defRPr>
            </a:pPr>
            <a:r>
              <a:rPr sz="240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100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7798A6-4DF4-4C9C-A41F-0F8CF312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815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24D"/>
                </a:solidFill>
              </a:defRPr>
            </a:pPr>
            <a:r>
              <a:rPr sz="112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unique engines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4A14CD-4260-4877-ABA7-C8980D6E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957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44641E-D013-4BAC-8C52-81703890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957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B7CD02-47BD-47B4-B1FE-141401B8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12B"/>
                </a:solidFill>
              </a:defRPr>
            </a:pPr>
            <a:r>
              <a:rPr sz="240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46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A01949-87DB-4BAC-A9A1-20A04572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815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24D"/>
                </a:solidFill>
              </a:defRPr>
            </a:pPr>
            <a:r>
              <a:rPr sz="112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columns after engineering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8F8D27-5157-4FFA-ACDD-EDEE1C78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81300"/>
            <a:ext cx="1104900" cy="2457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283D8F-BC78-4B41-8AA2-B132C3B3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212B"/>
                </a:solidFill>
              </a:defRPr>
            </a:pPr>
            <a:r>
              <a:rPr sz="22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27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3569D4-6CE9-4099-B78E-5D28E457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448050"/>
            <a:ext cx="87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24D"/>
                </a:solidFill>
              </a:defRPr>
            </a:pPr>
            <a:r>
              <a:rPr sz="97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columns after</a:t>
            </a:r>
          </a:p>
          <a:p xmlns:a="http://schemas.openxmlformats.org/drawingml/2006/main">
            <a:pPr algn="ctr">
              <a:defRPr sz="975" b="0">
                <a:solidFill>
                  <a:srgbClr val="33424D"/>
                </a:solidFill>
              </a:defRPr>
            </a:pPr>
            <a:r>
              <a:rPr sz="97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adding RUL target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84D839-9CDF-4C39-AD65-17F1B440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148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212B"/>
                </a:solidFill>
              </a:defRPr>
            </a:pPr>
            <a:r>
              <a:rPr sz="22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17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618218-1588-4407-BC39-11619BC7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14850"/>
            <a:ext cx="87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24D"/>
                </a:solidFill>
              </a:defRPr>
            </a:pPr>
            <a:r>
              <a:rPr sz="97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columns after</a:t>
            </a:r>
          </a:p>
          <a:p xmlns:a="http://schemas.openxmlformats.org/drawingml/2006/main">
            <a:pPr algn="ctr">
              <a:defRPr sz="975" b="0">
                <a:solidFill>
                  <a:srgbClr val="33424D"/>
                </a:solidFill>
              </a:defRPr>
            </a:pPr>
            <a:r>
              <a:rPr sz="97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column filtering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C5B483-45AD-41FA-9FB3-E8DA0923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7D"/>
                </a:solidFill>
              </a:defRPr>
            </a:pPr>
            <a:r>
              <a:rPr sz="750" b="0">
                <a:solidFill>
                  <a:srgbClr val="65737D"/>
                </a:solidFill>
                <a:latin typeface="Lato"/>
                <a:ea typeface="Lato"/>
                <a:cs typeface="Lato"/>
              </a:rPr>
              <a:t>Source: NASA C-MAPSS FD001 and project notebooks</a:t>
            </a:r>
          </a:p>
        </p:txBody>
      </p:sp>
    </p:spTree>
    <p:extLst>
      <p:ext uri="{BB962C8B-B14F-4D97-AF65-F5344CB8AC3E}">
        <p14:creationId xmlns:p14="http://schemas.microsoft.com/office/powerpoint/2010/main" val="1390159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7F919C-1969-4567-95EC-1E26FCAF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-7429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73DF7-1935-4CF7-AAB6-B93D91DA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86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A37A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0F604-56CC-4AD9-9674-F1D9B9D6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85800" y="4572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E6643-D63D-4178-84EE-A9308ED6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387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053">
              <a:alpha val="1686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BC4C0-91F0-4620-89A5-74E2452B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F5185-CA29-42E5-BBAF-95FF8D52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6745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3C33B-36FB-43DF-9CF4-005EC94F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4288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21259-6469-49FC-8C81-E70A7ED9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71500"/>
            <a:ext cx="14288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82FF7-ECF6-4975-BEAD-3F08235B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191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651"/>
                </a:solidFill>
              </a:defRPr>
            </a:pPr>
            <a:r>
              <a:rPr sz="90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04 / 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15C80-CDEB-4C67-BE63-36E305A6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651"/>
                </a:solidFill>
              </a:defRPr>
            </a:pPr>
            <a:r>
              <a:rPr sz="97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COLUMN REMOVAL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C10AC-9ED5-4128-9A5D-BEA346BB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2395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2B"/>
                </a:solidFill>
              </a:defRPr>
            </a:pPr>
            <a:r>
              <a:rPr sz="25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Near-zero-variance features were removed before modeling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28143-623D-47BD-B0BD-BBEF26AC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24D"/>
                </a:solidFill>
              </a:defRPr>
            </a:pPr>
            <a:r>
              <a:rPr sz="1350" b="0">
                <a:solidFill>
                  <a:srgbClr val="33424D"/>
                </a:solidFill>
                <a:latin typeface="Lato"/>
                <a:ea typeface="Lato"/>
                <a:cs typeface="Lato"/>
              </a:rPr>
              <a:t>Flat columns contribute little information because they barely change across engines or cycles.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6732F-0FEC-4881-9659-0AD4E2EF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8">
              <a:alpha val="90980"/>
            </a:srgbClr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22F95-594A-4355-A45E-9542DBED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E1A7C-477D-4D3A-8646-0FC109EE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How it was done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EBD57-9009-47D7-9B04-B30370AA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28765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The notebook computed variance for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every operational setting and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sensor on train_FD001_with_RUL.csv.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Any field satisfying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round(variance, 5) &lt; 1e-10 was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treated as effectively constant and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then dropped from the cleaned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dataset.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3E70F-EB2B-4AEC-892B-8D8432EA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3009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5E65D6-AACF-4E14-8B13-B9FFE936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A432B-A4B4-4826-9F9C-79A462C6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6651"/>
                </a:solidFill>
              </a:defRPr>
            </a:pPr>
            <a:r>
              <a:rPr sz="120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Removed settings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FBFB6E-FF7C-42D7-A38D-8E523C30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33750"/>
            <a:ext cx="25336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• setting_1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• setting_2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• setting_3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E68F3E-F1B2-4C61-890B-02A2D498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36576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0C64D2-A990-4208-8E4D-17D06468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0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E1066B-1999-452B-93A4-98049876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1465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6651"/>
                </a:solidFill>
              </a:defRPr>
            </a:pPr>
            <a:r>
              <a:rPr sz="120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Removed sensors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A45104-560B-4F6F-86D2-EAFE05E3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3181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• s_1, s_5, s_6, s_10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• s_16, s_18, s_19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3B213B-ED1F-4B55-9D76-3C78B364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10515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EF5C3D-A237-4434-B2E0-081CEE92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03FF4A-411C-4088-BC6F-620D7A54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14975"/>
            <a:ext cx="1000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Result: 10 low-information columns were removed, reducing the dataset from 27 columns to 17 columns and retaining 14 active sensors for modeling.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672A7-7505-4C50-9F16-9A2A371E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7D"/>
                </a:solidFill>
              </a:defRPr>
            </a:pPr>
            <a:r>
              <a:rPr sz="750" b="0">
                <a:solidFill>
                  <a:srgbClr val="65737D"/>
                </a:solidFill>
                <a:latin typeface="Lato"/>
                <a:ea typeface="Lato"/>
                <a:cs typeface="Lato"/>
              </a:rPr>
              <a:t>Source: NASA C-MAPSS FD001 and project notebooks</a:t>
            </a:r>
          </a:p>
        </p:txBody>
      </p:sp>
    </p:spTree>
    <p:extLst>
      <p:ext uri="{BB962C8B-B14F-4D97-AF65-F5344CB8AC3E}">
        <p14:creationId xmlns:p14="http://schemas.microsoft.com/office/powerpoint/2010/main" val="12835430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C1488D-5D49-4667-8396-781C53F3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6667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AC532-2A94-4CEE-9094-C0C7A66B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62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A37A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F9E43-EB9B-46C3-B10A-DBB33DDF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71500" y="44767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477A1-1E89-4B04-95B3-6645D753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1816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053">
              <a:alpha val="1686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40E4B-CF37-42ED-8A3B-0AF00AD6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9A1C0-4317-492D-B7B5-0660D413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6745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A81E6-B8C4-4ADA-9CF7-C473262D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4288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15BEE-2E0F-45B9-BFE5-1243C06F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71500"/>
            <a:ext cx="14288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2F01C-5EDD-4189-A22C-23B2029A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191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651"/>
                </a:solidFill>
              </a:defRPr>
            </a:pPr>
            <a:r>
              <a:rPr sz="90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05 / 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371CB-BF73-4D72-BF9A-B9E37594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651"/>
                </a:solidFill>
              </a:defRPr>
            </a:pPr>
            <a:r>
              <a:rPr sz="97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FEATURE 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CFF84-6391-40C2-B418-7840E82E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2395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2B"/>
                </a:solidFill>
              </a:defRPr>
            </a:pPr>
            <a:r>
              <a:rPr sz="25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Why and how the features were constructed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9B3E0-BD91-4758-A57E-3516781A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24D"/>
                </a:solidFill>
              </a:defRPr>
            </a:pPr>
            <a:r>
              <a:rPr sz="1350" b="0">
                <a:solidFill>
                  <a:srgbClr val="33424D"/>
                </a:solidFill>
                <a:latin typeface="Lato"/>
                <a:ea typeface="Lato"/>
                <a:cs typeface="Lato"/>
              </a:rPr>
              <a:t>The cleaned cycle-wise sensor table was transformed into features that better describe degradation dynamics.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41374-B032-43DD-AC8F-1D7341BA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E475F-937B-4F4D-BFE2-E846A62C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903AB-AF1F-4CED-845B-37DFD37A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861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6651"/>
                </a:solidFill>
              </a:defRPr>
            </a:pPr>
            <a:r>
              <a:rPr sz="112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Rolling Mean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3F630-B2C9-458B-BD38-87283734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17335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For each active sensor, a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5-cycle rolling mean was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computed within each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engine. This smooths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noise and highlights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local degradation trend.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53FDCB-773D-4999-85C5-D120B4B1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195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27F03-FF52-4C5A-AD43-BFD98339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7655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68CF3F-C69F-47CE-8906-1FBFD0C8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67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00BD8-287E-4CFA-A990-9FE42149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861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6651"/>
                </a:solidFill>
              </a:defRPr>
            </a:pPr>
            <a:r>
              <a:rPr sz="112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Rolling Std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7A843-25AC-4B1D-8759-559D147E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43300"/>
            <a:ext cx="17335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 5-cycle rolling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standard deviation was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also created. It captures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short-term instability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and fluctuation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intensity.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31F9F2-051B-45AA-83E1-1788EE6D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95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A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9D34F1-6DB5-4C16-9CC0-33B8B638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7655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48E7A6-76E5-40EF-9889-9C7DE298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67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0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064A8-5FE8-4E02-99BA-7170A21A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861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6651"/>
                </a:solidFill>
              </a:defRPr>
            </a:pPr>
            <a:r>
              <a:rPr sz="112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RUL Clipping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09287F-B535-4708-A598-186978B7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43300"/>
            <a:ext cx="17335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The target was clipped at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125 cycles. This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piecewise target reduces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the influence of very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large early-life RUL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values.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B2369C-2308-4E83-A7C5-F7A6D629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80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95CF8A-EE62-4737-9D13-6AD8F0DF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76550"/>
            <a:ext cx="160020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7B2534-4B51-4C90-9256-64183E72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67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6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1AD1D9-BC72-48E6-B659-F3318906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861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6651"/>
                </a:solidFill>
              </a:defRPr>
            </a:pPr>
            <a:r>
              <a:rPr sz="112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Scaling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725A8E-38E6-4ECF-A37A-CD2BDFF0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43300"/>
            <a:ext cx="1143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Min-Max scaling</a:t>
            </a:r>
          </a:p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put all predictors</a:t>
            </a:r>
          </a:p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on a comparable</a:t>
            </a:r>
          </a:p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range before</a:t>
            </a:r>
          </a:p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regression</a:t>
            </a:r>
          </a:p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training.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DF9AAC-5372-4C98-ADC4-94B92E6A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0515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0A62D6-B92B-445A-8C9F-66955639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894DAA-E478-4DD3-B6A8-054CBEDF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0"/>
            <a:ext cx="1000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Engineering summary: 14 active sensors produced 28 rolling statistics (14 means + 14 standard deviations). The final modeling file contains 46 columns including identifiers and targets.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7D2FD1-3584-434F-AD6D-B311D86B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7D"/>
                </a:solidFill>
              </a:defRPr>
            </a:pPr>
            <a:r>
              <a:rPr sz="750" b="0">
                <a:solidFill>
                  <a:srgbClr val="65737D"/>
                </a:solidFill>
                <a:latin typeface="Lato"/>
                <a:ea typeface="Lato"/>
                <a:cs typeface="Lato"/>
              </a:rPr>
              <a:t>Source: NASA C-MAPSS FD001 and project notebooks</a:t>
            </a:r>
          </a:p>
        </p:txBody>
      </p:sp>
    </p:spTree>
    <p:extLst>
      <p:ext uri="{BB962C8B-B14F-4D97-AF65-F5344CB8AC3E}">
        <p14:creationId xmlns:p14="http://schemas.microsoft.com/office/powerpoint/2010/main" val="196659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226765-A079-4EC0-9BD6-88394290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-5905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65C11-83FB-4846-960C-239C4A5F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8953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A37A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842BD-D1BA-4A01-9EAC-725CF43C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4381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AB2D9-A994-4689-8FF3-F5865FA5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244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053">
              <a:alpha val="1686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EE545-649C-45ED-8A1F-D08929D5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C2313-1094-4B20-821A-10B4AEB9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6745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B4134-4E09-4012-9CBA-D21C4206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4288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70C90-8157-44E6-A5AC-6E2E7658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71500"/>
            <a:ext cx="14288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50B9B-C2F8-49A2-A9B4-A1FC38B7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191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651"/>
                </a:solidFill>
              </a:defRPr>
            </a:pPr>
            <a:r>
              <a:rPr sz="90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06 / 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7E49B-7A3D-4CD9-85FD-0E24CAA9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651"/>
                </a:solidFill>
              </a:defRPr>
            </a:pPr>
            <a:r>
              <a:rPr sz="97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MODELING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933B3-90B6-4EA3-ACAC-626406EF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2395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2B"/>
                </a:solidFill>
              </a:defRPr>
            </a:pPr>
            <a:r>
              <a:rPr sz="25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How the prepared data was turned into a regression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9FA15-005A-4C6A-B392-39AC4862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24D"/>
                </a:solidFill>
              </a:defRPr>
            </a:pPr>
            <a:r>
              <a:rPr sz="1350" b="0">
                <a:solidFill>
                  <a:srgbClr val="33424D"/>
                </a:solidFill>
                <a:latin typeface="Lato"/>
                <a:ea typeface="Lato"/>
                <a:cs typeface="Lato"/>
              </a:rPr>
              <a:t>The pipeline preserves engine chronology and avoids leakage between training and validation engines.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F2CE1-541B-40AF-A7A4-3AD4C995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6764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4679E6-00BD-4249-8AA4-94ACADA9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6749D-3AF0-4A24-B746-850D036F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81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6651"/>
                </a:solidFill>
              </a:defRPr>
            </a:pPr>
            <a:r>
              <a:rPr sz="112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Raw FD001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F6CE4-CE6B-4A99-8272-A0E565C7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219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Engine cycle data</a:t>
            </a:r>
          </a:p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with settings and</a:t>
            </a:r>
          </a:p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sensors.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E628B-C9A2-4513-A69F-042FE419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4330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3FE43-28D1-4D5E-8148-511EFB12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71800"/>
            <a:ext cx="16764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68B952-65FC-4B49-A47D-34F672AF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62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02326-31EE-4885-B832-F950E714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81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6651"/>
                </a:solidFill>
              </a:defRPr>
            </a:pPr>
            <a:r>
              <a:rPr sz="112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Add RUL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475FB-C310-458E-B3A1-83C895EC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38550"/>
            <a:ext cx="1219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RUL = max cycle per</a:t>
            </a:r>
          </a:p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engine minus</a:t>
            </a:r>
          </a:p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current cycle.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B62773-571F-4070-8E0F-F5464536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4330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A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F5F7C5-82E4-42D5-9052-C39D3B6E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16764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B5DB4F-39AE-4454-9A01-A7EC3E72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62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0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DAAE81-A32C-441E-AC66-830F5427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81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6651"/>
                </a:solidFill>
              </a:defRPr>
            </a:pPr>
            <a:r>
              <a:rPr sz="112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Clean Columns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B6BB13-C280-4A47-BE10-FC75FF6F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38550"/>
            <a:ext cx="1219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Drop near-flat</a:t>
            </a:r>
          </a:p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settings and</a:t>
            </a:r>
          </a:p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sensors.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F7F0A9-7981-41A6-BF3D-181C1F7C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4330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80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FAEED1-3F76-4C72-A50A-D695C500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71800"/>
            <a:ext cx="16764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4291C2-7F6F-40AF-8045-09CDA21C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62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6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B0AF9D-5BF5-4455-907F-B465C0AE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6651"/>
                </a:solidFill>
              </a:defRPr>
            </a:pPr>
            <a:r>
              <a:rPr sz="112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Engineer Features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C18481-8CB5-42A0-90C6-0CE25F14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38550"/>
            <a:ext cx="1219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Rolling mean,</a:t>
            </a:r>
          </a:p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rolling std,</a:t>
            </a:r>
          </a:p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clipping, and</a:t>
            </a:r>
          </a:p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scaling.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31AC74-31A2-442D-B3BA-9D0F4443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4330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66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3A9F0A-EB82-4D23-B058-6B5FBFA3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71800"/>
            <a:ext cx="16764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C26D3D-332B-46B6-8795-FD7AB0AD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62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9461E1-6311-430A-9F4C-E9221EBB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81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6651"/>
                </a:solidFill>
              </a:defRPr>
            </a:pPr>
            <a:r>
              <a:rPr sz="112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Fit Models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7058AB-14B6-43FD-9BBA-A80F0FA5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38550"/>
            <a:ext cx="1219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Train the three</a:t>
            </a:r>
          </a:p>
          <a:p xmlns:a="http://schemas.openxmlformats.org/drawingml/2006/main"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regression models.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CE4608-13E9-4DEF-B33C-0BB086DD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4857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8">
              <a:alpha val="90980"/>
            </a:srgbClr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B76729-DA8C-472E-A650-025C2280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E017F2-E0A0-4CAD-9444-AEBE0F75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Train / validation split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0840D6-C6F8-403B-92E4-666C17E0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4400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Engines 1-80 were used for training and engines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81-100 for validation. Splitting by engine avoids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leaking later cycles of the same engine across both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sets.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1F5144-2A4E-4141-9D01-FEC54EC2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52950"/>
            <a:ext cx="54483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8">
              <a:alpha val="90980"/>
            </a:srgbClr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5F0FB1-C95B-4471-9559-B4EF767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529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0FCA31-5710-4714-944A-3157CD2E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62500"/>
            <a:ext cx="506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Feature-target definition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A5EF95-43D5-41A4-9842-CA9AADCE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67300"/>
            <a:ext cx="4991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X contains engineered predictors only. unit_nr,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time_cycles, RUL, and RUL_clipped were excluded from X,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while y was defined as RUL_clipped.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F9B157-07B3-4873-A99A-CEFD3A6D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7D"/>
                </a:solidFill>
              </a:defRPr>
            </a:pPr>
            <a:r>
              <a:rPr sz="750" b="0">
                <a:solidFill>
                  <a:srgbClr val="65737D"/>
                </a:solidFill>
                <a:latin typeface="Lato"/>
                <a:ea typeface="Lato"/>
                <a:cs typeface="Lato"/>
              </a:rPr>
              <a:t>Source: NASA C-MAPSS FD001 and project notebooks</a:t>
            </a:r>
          </a:p>
        </p:txBody>
      </p:sp>
    </p:spTree>
    <p:extLst>
      <p:ext uri="{BB962C8B-B14F-4D97-AF65-F5344CB8AC3E}">
        <p14:creationId xmlns:p14="http://schemas.microsoft.com/office/powerpoint/2010/main" val="8768860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CDAEA0-E162-485A-924C-A44EAE19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-5143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4F948-EC6B-40C4-89CC-18C27830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287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A37A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C9766-6DE0-4B72-AAEC-B50993E7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42900" y="42862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65A4A-56BF-4882-80AC-DA14CD37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673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053">
              <a:alpha val="1686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527A5-A88C-4635-AE11-75A60ADA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4C48F-FABE-4CFB-8F28-4E0AF386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6745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96DB4-719B-40FD-951F-09E60E20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4288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B78D9-3330-4629-A369-F2CE2DB9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71500"/>
            <a:ext cx="14288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3134E-6293-4368-8A0B-23BB14D9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191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651"/>
                </a:solidFill>
              </a:defRPr>
            </a:pPr>
            <a:r>
              <a:rPr sz="90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07 / 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9B9E8-F0DD-4CFB-81BA-4F6DBDD7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651"/>
                </a:solidFill>
              </a:defRPr>
            </a:pPr>
            <a:r>
              <a:rPr sz="97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REGRESSION MODELS COMPARED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AACAB-91FE-4B69-8586-152B05CF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2395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2B"/>
                </a:solidFill>
              </a:defRPr>
            </a:pPr>
            <a:r>
              <a:rPr sz="25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Only three models were evaluated for the final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0E687-44FC-41F1-80B9-23717FCB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24D"/>
                </a:solidFill>
              </a:defRPr>
            </a:pPr>
            <a:r>
              <a:rPr sz="1350" b="0">
                <a:solidFill>
                  <a:srgbClr val="33424D"/>
                </a:solidFill>
                <a:latin typeface="Lato"/>
                <a:ea typeface="Lato"/>
                <a:cs typeface="Lato"/>
              </a:rPr>
              <a:t>All three models share the same feature set and validation split so their metrics remain directly comparable.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C3BF4-0E69-489D-BCF3-F307B713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31813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DF8">
              <a:alpha val="90980"/>
            </a:srgbClr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ABD15-32A2-4A34-8936-F8E5C21D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2CE7C-4D31-4754-8011-5917678A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Linear Regression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BC10E-D26A-4EF8-BFF0-6B44D375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2724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Acts as the baseline model. It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estimates one weight per feature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and shows how much predictive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power is already present in the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engineered linear relationships.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A22D5-2691-4777-9B42-01AC2415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31813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DF8">
              <a:alpha val="90980"/>
            </a:srgbClr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0E111-2652-4EF6-B85F-78C7DED1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11D58-A14C-4259-B5E4-C4B48B93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Lasso Regression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987B5-50E3-4F21-BB81-12962127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2724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Adds L1 regularization. It can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shrink weak coefficients to zero,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which is useful when many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engineered features may be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redundant or only weakly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informative.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7153D2-AD1C-49B4-98D4-E8B22AA6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32766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DF8">
              <a:alpha val="90980"/>
            </a:srgbClr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459EE1-7D46-4687-8098-11AD7DC9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0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DD6D1A-F726-416B-9D74-40DA505D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Ridge Regression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0C0E3E-E3E6-48A2-A03F-B219030A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09950"/>
            <a:ext cx="2819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Adds L2 regularization. It keeps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all features but stabilizes the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coefficients when correlated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sensor trends exist in the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engineered dataset.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D855E7-BB92-498B-811F-6FE0E609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10515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C2ADA9-64B5-4FAB-B960-CC7B61C6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B7C112-3AD7-4C76-8AAE-19528E13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1000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Evaluation metrics: RMSE measures large errors strongly, MAE measures average absolute error directly, and R² measures how much target variance is explained by the model.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F5301E-19FE-462D-B1FC-6E78D789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7D"/>
                </a:solidFill>
              </a:defRPr>
            </a:pPr>
            <a:r>
              <a:rPr sz="750" b="0">
                <a:solidFill>
                  <a:srgbClr val="65737D"/>
                </a:solidFill>
                <a:latin typeface="Lato"/>
                <a:ea typeface="Lato"/>
                <a:cs typeface="Lato"/>
              </a:rPr>
              <a:t>Source: NASA C-MAPSS FD001 and project notebooks</a:t>
            </a:r>
          </a:p>
        </p:txBody>
      </p:sp>
    </p:spTree>
    <p:extLst>
      <p:ext uri="{BB962C8B-B14F-4D97-AF65-F5344CB8AC3E}">
        <p14:creationId xmlns:p14="http://schemas.microsoft.com/office/powerpoint/2010/main" val="17716822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77A9E6-E755-48C0-A7C1-96EB0BBA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-4381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C0A3F-E40F-4FC7-A26A-E88DE14D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1620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A37A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F08B8-8A36-4BB4-A316-77413DD2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4191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9C989-F834-413F-8F03-DE673F00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053">
              <a:alpha val="1686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D58A9-B2F2-4A1B-96A5-3F34936F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9A05A-317E-477E-ACEF-069C4669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67450"/>
            <a:ext cx="11010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49174-8952-41B2-B33D-7412DBAA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4288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96247-0F9C-4E2E-B6BC-B8407EDC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71500"/>
            <a:ext cx="14288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3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C9DAE-937A-459B-89DA-3C45055A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191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651"/>
                </a:solidFill>
              </a:defRPr>
            </a:pPr>
            <a:r>
              <a:rPr sz="90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08 / 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97FD2-53F0-4DF8-9F68-5624ABB6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651"/>
                </a:solidFill>
              </a:defRPr>
            </a:pPr>
            <a:r>
              <a:rPr sz="97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FINAL RESULTS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334F5-F064-4D35-81F5-4B06BD85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2395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2B"/>
                </a:solidFill>
              </a:defRPr>
            </a:pPr>
            <a:r>
              <a:rPr sz="25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Lasso Regression gave the best overall validation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02709-5125-4A7A-99BD-3E582167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24D"/>
                </a:solidFill>
              </a:defRPr>
            </a:pPr>
            <a:r>
              <a:rPr sz="1350" b="0">
                <a:solidFill>
                  <a:srgbClr val="33424D"/>
                </a:solidFill>
                <a:latin typeface="Lato"/>
                <a:ea typeface="Lato"/>
                <a:cs typeface="Lato"/>
              </a:rPr>
              <a:t>The three models performed very similarly, but lasso achieved the smallest RMSE and tied for the lowest MAE.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C623B-82C1-4FEF-BDB3-AB481EE0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66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66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4C96D-B2FA-4434-86FE-01BD7A19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387F8-ABAB-4F83-9513-01035D0E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133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66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1DF6E-B205-4121-A3E9-97395CE6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765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RMSE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A71651-144B-46B0-80F0-7D301283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81300"/>
            <a:ext cx="133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66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59FEE1-D550-48BF-974F-052BA909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765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MAE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C4728-77FC-4789-B0C7-AA998C89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81300"/>
            <a:ext cx="1047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66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B56B6-5A7C-420C-A6EC-BFAAD687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77D1F4-0DF9-4097-AA38-5388C020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666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E3F0F-B69E-4B6A-9C00-E70597F8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BB6CD-3244-40F0-8515-0AC60C12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2552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Linear Regression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1107E5-66E0-4DD5-8F19-4A65158D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671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20.8815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31B61A-03EF-41E3-AAC7-11A80D14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671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16.9817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EF7F65-E03C-4A6A-9A8A-0E4233C9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671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0.7441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9011EA-A60B-4068-A946-DD96F190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666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28977C-A4EC-4662-97DC-86A585C3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46905C-6B8F-414F-93E9-D3450643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2552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2B"/>
                </a:solidFill>
              </a:defRPr>
            </a:pPr>
            <a:r>
              <a:rPr sz="1200" b="1">
                <a:solidFill>
                  <a:srgbClr val="14212B"/>
                </a:solidFill>
                <a:latin typeface="Lato"/>
                <a:ea typeface="Lato"/>
                <a:cs typeface="Lato"/>
              </a:rPr>
              <a:t>Lasso Regression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8FB490-17D2-4066-A5C9-016DC15B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52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2B"/>
                </a:solidFill>
              </a:defRPr>
            </a:pPr>
            <a:r>
              <a:rPr sz="13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20.8805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E63EFB-65C9-42EA-933F-74212A94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52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2B"/>
                </a:solidFill>
              </a:defRPr>
            </a:pPr>
            <a:r>
              <a:rPr sz="13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16.9817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89E1EB-A088-40EB-8C47-7A12EBD1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529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2B"/>
                </a:solidFill>
              </a:defRPr>
            </a:pPr>
            <a:r>
              <a:rPr sz="13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0.7441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71F8FE-6532-4591-8EF0-6D2D808E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666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8E4456-DB64-434C-AF45-37EBB8C8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7A0131-1C3F-434A-BD85-F176A7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8700"/>
            <a:ext cx="2552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Ridge Regression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71BE21-F660-4D77-8758-3B0557B4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387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20.8814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B73CB1-91CA-4885-A855-E81C7C3C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387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16.9823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9C3FB2-89CE-4B21-BA5D-7BED7ACA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387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0.7441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2F230A-A785-408F-B0D6-356889A5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36385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DF8">
              <a:alpha val="90980"/>
            </a:srgbClr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DF92F5-684C-4829-946E-C7EBFEB0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5246AE-DE85-44D0-B5DF-2C77EC14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Best model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F0AA61-70A4-4944-960F-970C73DF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95650"/>
            <a:ext cx="3181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Lasso Regression is the best model in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this comparison because it achieved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the lowest RMSE (20.8805 cycles) while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matching the lowest MAE. Its R² is</a:t>
            </a:r>
          </a:p>
          <a:p xmlns:a="http://schemas.openxmlformats.org/drawingml/2006/main"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also on par with the other two models.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6D7002-FE4A-4620-8CD7-C35D2BF2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10100"/>
            <a:ext cx="36385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DF8">
              <a:alpha val="90980"/>
            </a:srgbClr>
          </a:solidFill>
          <a:ln xmlns:a="http://schemas.openxmlformats.org/drawingml/2006/main"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B4740B-8EF0-4025-A5A2-D1AF3CD4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1010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27B4FD-D3D9-47C3-9307-202C4935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9650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Interpretation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CB6A55-DDCA-4DCA-AD0C-5EFDE1D1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24450"/>
            <a:ext cx="3181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Scores are nearly identical, so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feature engineering contributes more</a:t>
            </a:r>
          </a:p>
          <a:p xmlns:a="http://schemas.openxmlformats.org/drawingml/2006/main"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than regularization to final accuracy.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FAA02D-2FFE-484C-9DDE-583CB0F3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37D"/>
                </a:solidFill>
              </a:defRPr>
            </a:pPr>
            <a:r>
              <a:rPr sz="750" b="0">
                <a:solidFill>
                  <a:srgbClr val="65737D"/>
                </a:solidFill>
                <a:latin typeface="Lato"/>
                <a:ea typeface="Lato"/>
                <a:cs typeface="Lato"/>
              </a:rPr>
              <a:t>Source: metrics recomputed from train_FD001_engineered.csv with the same engine split</a:t>
            </a:r>
          </a:p>
        </p:txBody>
      </p:sp>
    </p:spTree>
    <p:extLst>
      <p:ext uri="{BB962C8B-B14F-4D97-AF65-F5344CB8AC3E}">
        <p14:creationId xmlns:p14="http://schemas.microsoft.com/office/powerpoint/2010/main" val="658198005"/>
      </p:ext>
    </p:extLst>
  </p:cSld>
</p:sld>
</file>

<file path=ppt/theme/theme1.xml><?xml version="1.0" encoding="utf-8"?>
<a:theme xmlns:a="http://schemas.openxmlformats.org/drawingml/2006/main" name="RUL Theme">
  <a:themeElements>
    <a:clrScheme name="RUL Theme">
      <a:accent1>
        <a:srgbClr val="1FA37A"/>
      </a:accent1>
      <a:accent2>
        <a:srgbClr val="D4A24E"/>
      </a:accent2>
      <a:accent3>
        <a:srgbClr val="E68053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UL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2026-05-08T18:07:28.3440000Z</dcterms:created>
  <dcterms:modified xsi:type="dcterms:W3CDTF">2026-05-08T18:07:28.3440000Z</dcterms:modified>
</coreProperties>
</file>