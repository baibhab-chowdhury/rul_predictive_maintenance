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58"/>
  </p:normalViewPr>
  <p:slideViewPr>
    <p:cSldViewPr snapToGrid="0">
      <p:cViewPr varScale="1">
        <p:scale>
          <a:sx n="113" d="100"/>
          <a:sy n="113" d="100"/>
        </p:scale>
        <p:origin x="73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Opening slide with student credentials, exact topic wording from the user, and the project framing.</a:t>
            </a:r>
          </a:p>
          <a:p>
            <a:endParaRPr/>
          </a:p>
          <a:p>
            <a:r>
              <a:t>[Sources]</a:t>
            </a:r>
          </a:p>
          <a:p>
            <a:r>
              <a:t>- Project notebooks and processed CSV files in this repository: data/raw, data/processed, notebooks/01-04.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Abstract slide summarizing the goal, workflow, and practical relevance.</a:t>
            </a:r>
          </a:p>
          <a:p>
            <a:endParaRPr/>
          </a:p>
          <a:p>
            <a:r>
              <a:t>[Sources]</a:t>
            </a:r>
          </a:p>
          <a:p>
            <a:r>
              <a:t>- NASA C-MAPSS FD001 turbofan engine degradation dataset used in the project repository.</a:t>
            </a:r>
          </a:p>
          <a:p>
            <a:r>
              <a:t>- Project notebooks and processed CSV files in this repository: data/raw, data/processed, notebooks/01-04.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Dataset slide with the exact row and column counts pulled from the repository data files.</a:t>
            </a:r>
          </a:p>
          <a:p>
            <a:endParaRPr/>
          </a:p>
          <a:p>
            <a:r>
              <a:t>[Sources]</a:t>
            </a:r>
          </a:p>
          <a:p>
            <a:r>
              <a:t>- NASA C-MAPSS FD001 turbofan engine degradation dataset used in the project repository.</a:t>
            </a:r>
          </a:p>
          <a:p>
            <a:r>
              <a:t>- Project notebooks and processed CSV files in this repository: data/raw, data/processed, notebooks/01-04.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Column-filtering slide showing what was removed, why the columns were unhelpful, and the variance-based rule used in the notebook.</a:t>
            </a:r>
          </a:p>
          <a:p>
            <a:endParaRPr/>
          </a:p>
          <a:p>
            <a:r>
              <a:t>[Sources]</a:t>
            </a:r>
          </a:p>
          <a:p>
            <a:r>
              <a:t>- Project notebooks and processed CSV files in this repository: data/raw, data/processed, notebooks/01-04.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Feature-engineering slide explaining the rolling statistics, clipped target, scaling step, and why each step is useful for this problem.</a:t>
            </a:r>
          </a:p>
          <a:p>
            <a:endParaRPr/>
          </a:p>
          <a:p>
            <a:r>
              <a:t>[Sources]</a:t>
            </a:r>
          </a:p>
          <a:p>
            <a:r>
              <a:t>- Project notebooks and processed CSV files in this repository: data/raw, data/processed, notebooks/01-04.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Workflow slide covering target creation, feature preparation, and the engine-level train/validation split.</a:t>
            </a:r>
          </a:p>
          <a:p>
            <a:endParaRPr/>
          </a:p>
          <a:p>
            <a:r>
              <a:t>[Sources]</a:t>
            </a:r>
          </a:p>
          <a:p>
            <a:r>
              <a:t>- Project notebooks and processed CSV files in this repository: data/raw, data/processed, notebooks/01-04.</a:t>
            </a:r>
          </a:p>
          <a:p>
            <a:r>
              <a:t>- Validation metrics recomputed from train_FD001_engineered.csv using Linear Regression, Lasso Regression, and Ridge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Model-comparison setup slide limited to linear, lasso, and ridge regression with the reasons each model is relevant.</a:t>
            </a:r>
          </a:p>
          <a:p>
            <a:endParaRPr/>
          </a:p>
          <a:p>
            <a:r>
              <a:t>[Sources]</a:t>
            </a:r>
          </a:p>
          <a:p>
            <a:r>
              <a:t>- Validation metrics recomputed from train_FD001_engineered.csv using Linear Regression, Lasso Regression, and Ridge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Closing slide with the exact validation metrics and the final model selection statement.</a:t>
            </a:r>
          </a:p>
          <a:p>
            <a:endParaRPr/>
          </a:p>
          <a:p>
            <a:r>
              <a:t>[Sources]</a:t>
            </a:r>
          </a:p>
          <a:p>
            <a:r>
              <a:t>- Validation metrics recomputed from train_FD001_engineered.csv using Linear Regression, Lasso Regression, and Ridge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5C257FF5-86EE-44F0-85B0-F2363A4C7FF3}"/>
              </a:ext>
            </a:extLst>
          </p:cNvPr>
          <p:cNvSpPr>
            <a:spLocks noGrp="1"/>
          </p:cNvSpPr>
          <p:nvPr/>
        </p:nvSpPr>
        <p:spPr>
          <a:xfrm>
            <a:off x="8686800" y="-971550"/>
            <a:ext cx="3619500" cy="3619500"/>
          </a:xfrm>
          <a:prstGeom prst="ellipse">
            <a:avLst/>
          </a:prstGeom>
          <a:solidFill>
            <a:srgbClr val="DCEF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6026E20-F4BE-4F29-9A7F-CE8A91F35BD4}"/>
              </a:ext>
            </a:extLst>
          </p:cNvPr>
          <p:cNvSpPr>
            <a:spLocks noGrp="1"/>
          </p:cNvSpPr>
          <p:nvPr/>
        </p:nvSpPr>
        <p:spPr>
          <a:xfrm>
            <a:off x="9448800" y="228600"/>
            <a:ext cx="2095500" cy="2095500"/>
          </a:xfrm>
          <a:prstGeom prst="ellipse">
            <a:avLst/>
          </a:prstGeom>
          <a:solidFill>
            <a:srgbClr val="1FA37A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C0A4CC4-C422-4970-A683-7BD9B3B71076}"/>
              </a:ext>
            </a:extLst>
          </p:cNvPr>
          <p:cNvSpPr>
            <a:spLocks noGrp="1"/>
          </p:cNvSpPr>
          <p:nvPr/>
        </p:nvSpPr>
        <p:spPr>
          <a:xfrm>
            <a:off x="-1028700" y="4857750"/>
            <a:ext cx="3048000" cy="3048000"/>
          </a:xfrm>
          <a:prstGeom prst="ellipse">
            <a:avLst/>
          </a:prstGeom>
          <a:solidFill>
            <a:srgbClr val="F3E2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3BDB1C2-C27D-4E17-9693-03B3ABDC6EE4}"/>
              </a:ext>
            </a:extLst>
          </p:cNvPr>
          <p:cNvSpPr>
            <a:spLocks noGrp="1"/>
          </p:cNvSpPr>
          <p:nvPr/>
        </p:nvSpPr>
        <p:spPr>
          <a:xfrm>
            <a:off x="-95250" y="5410200"/>
            <a:ext cx="1428750" cy="1428750"/>
          </a:xfrm>
          <a:prstGeom prst="ellipse">
            <a:avLst/>
          </a:prstGeom>
          <a:solidFill>
            <a:srgbClr val="E68053">
              <a:alpha val="1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12B7CC-79DF-4D1A-95AF-B7B24A5BA0A7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6C9DB9-9CEE-411A-B3A6-C8AF90A5282F}"/>
              </a:ext>
            </a:extLst>
          </p:cNvPr>
          <p:cNvSpPr>
            <a:spLocks noGrp="1"/>
          </p:cNvSpPr>
          <p:nvPr/>
        </p:nvSpPr>
        <p:spPr>
          <a:xfrm>
            <a:off x="590550" y="626745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F23D69-E27B-482A-AB12-E4780AA03BE6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53C26B-DFC6-4B47-92C0-8312135BE5B3}"/>
              </a:ext>
            </a:extLst>
          </p:cNvPr>
          <p:cNvSpPr>
            <a:spLocks noGrp="1"/>
          </p:cNvSpPr>
          <p:nvPr/>
        </p:nvSpPr>
        <p:spPr>
          <a:xfrm>
            <a:off x="1158240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E5A7589-30EA-4310-8B8F-0B05493436F7}"/>
              </a:ext>
            </a:extLst>
          </p:cNvPr>
          <p:cNvSpPr>
            <a:spLocks noGrp="1"/>
          </p:cNvSpPr>
          <p:nvPr/>
        </p:nvSpPr>
        <p:spPr>
          <a:xfrm>
            <a:off x="8667750" y="990600"/>
            <a:ext cx="2381250" cy="819150"/>
          </a:xfrm>
          <a:prstGeom prst="roundRect">
            <a:avLst>
              <a:gd name="adj" fmla="val 9302"/>
            </a:avLst>
          </a:prstGeom>
          <a:solidFill>
            <a:srgbClr val="0E66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96CC47-FE17-4ED1-A66C-DB7245562627}"/>
              </a:ext>
            </a:extLst>
          </p:cNvPr>
          <p:cNvSpPr>
            <a:spLocks noGrp="1"/>
          </p:cNvSpPr>
          <p:nvPr/>
        </p:nvSpPr>
        <p:spPr>
          <a:xfrm>
            <a:off x="8839200" y="1143000"/>
            <a:ext cx="2038350" cy="19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AA0B13-416D-4E9F-B51F-1A547D63AE2C}"/>
              </a:ext>
            </a:extLst>
          </p:cNvPr>
          <p:cNvSpPr>
            <a:spLocks noGrp="1"/>
          </p:cNvSpPr>
          <p:nvPr/>
        </p:nvSpPr>
        <p:spPr>
          <a:xfrm>
            <a:off x="8839200" y="1638300"/>
            <a:ext cx="1809750" cy="1905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ACD287B-56AC-4FE6-8E5D-C6031E0559E9}"/>
              </a:ext>
            </a:extLst>
          </p:cNvPr>
          <p:cNvSpPr>
            <a:spLocks noGrp="1"/>
          </p:cNvSpPr>
          <p:nvPr/>
        </p:nvSpPr>
        <p:spPr>
          <a:xfrm>
            <a:off x="10725150" y="1543050"/>
            <a:ext cx="95250" cy="95250"/>
          </a:xfrm>
          <a:prstGeom prst="ellipse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E55166-1F85-4232-847A-76943EDE2325}"/>
              </a:ext>
            </a:extLst>
          </p:cNvPr>
          <p:cNvSpPr>
            <a:spLocks noGrp="1"/>
          </p:cNvSpPr>
          <p:nvPr/>
        </p:nvSpPr>
        <p:spPr>
          <a:xfrm>
            <a:off x="876300" y="914400"/>
            <a:ext cx="3048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PREDICTIVE MAINTENANCE PROJECT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B491D-2515-4461-841A-A836314A3ACF}"/>
              </a:ext>
            </a:extLst>
          </p:cNvPr>
          <p:cNvSpPr>
            <a:spLocks noGrp="1"/>
          </p:cNvSpPr>
          <p:nvPr/>
        </p:nvSpPr>
        <p:spPr>
          <a:xfrm>
            <a:off x="876300" y="1485900"/>
            <a:ext cx="5905500" cy="1504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4212B"/>
                </a:solidFill>
              </a:defRPr>
            </a:pPr>
            <a:r>
              <a:rPr sz="330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Predicting Remaining Unit Life of Turbojet Engine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BDED7C-CB51-4A54-8F6F-BDE5AB4010ED}"/>
              </a:ext>
            </a:extLst>
          </p:cNvPr>
          <p:cNvSpPr>
            <a:spLocks noGrp="1"/>
          </p:cNvSpPr>
          <p:nvPr/>
        </p:nvSpPr>
        <p:spPr>
          <a:xfrm>
            <a:off x="895350" y="3181350"/>
            <a:ext cx="4953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3424D"/>
                </a:solidFill>
              </a:defRPr>
            </a:pPr>
            <a:r>
              <a:rPr sz="150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Regression-based estimation of engine degradation using the NASA C-MAPSS FD001 sensor dataset.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5BB2C4-F0BD-4E6E-8331-43AE77372D26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4191000" cy="1924050"/>
          </a:xfrm>
          <a:prstGeom prst="roundRect">
            <a:avLst>
              <a:gd name="adj" fmla="val 396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0D8A16-1538-4F23-BF65-252D11D7655E}"/>
              </a:ext>
            </a:extLst>
          </p:cNvPr>
          <p:cNvSpPr>
            <a:spLocks noGrp="1"/>
          </p:cNvSpPr>
          <p:nvPr/>
        </p:nvSpPr>
        <p:spPr>
          <a:xfrm>
            <a:off x="876300" y="4114800"/>
            <a:ext cx="76200" cy="1924050"/>
          </a:xfrm>
          <a:prstGeom prst="rect">
            <a:avLst/>
          </a:prstGeom>
          <a:solidFill>
            <a:srgbClr val="E68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7E6EC2-A7E5-40AC-934D-8159CEDACCA8}"/>
              </a:ext>
            </a:extLst>
          </p:cNvPr>
          <p:cNvSpPr>
            <a:spLocks noGrp="1"/>
          </p:cNvSpPr>
          <p:nvPr/>
        </p:nvSpPr>
        <p:spPr>
          <a:xfrm>
            <a:off x="1143000" y="43434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Prepared by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981DFA-811B-4860-AEF5-358965AE320C}"/>
              </a:ext>
            </a:extLst>
          </p:cNvPr>
          <p:cNvSpPr>
            <a:spLocks noGrp="1"/>
          </p:cNvSpPr>
          <p:nvPr/>
        </p:nvSpPr>
        <p:spPr>
          <a:xfrm>
            <a:off x="1143000" y="4667250"/>
            <a:ext cx="3657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14212B"/>
                </a:solidFill>
              </a:defRPr>
            </a:pPr>
            <a:r>
              <a:rPr sz="19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BAIBHAB CHOWDHURY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5778E9-500A-429B-ACF4-FDBB09ABD571}"/>
              </a:ext>
            </a:extLst>
          </p:cNvPr>
          <p:cNvSpPr>
            <a:spLocks noGrp="1"/>
          </p:cNvSpPr>
          <p:nvPr/>
        </p:nvSpPr>
        <p:spPr>
          <a:xfrm>
            <a:off x="1143000" y="518160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24D"/>
                </a:solidFill>
              </a:defRPr>
            </a:pPr>
            <a:r>
              <a:rPr sz="12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Roll: 0738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03E7AE-475D-4920-85F3-9CECAE7FDAE0}"/>
              </a:ext>
            </a:extLst>
          </p:cNvPr>
          <p:cNvSpPr>
            <a:spLocks noGrp="1"/>
          </p:cNvSpPr>
          <p:nvPr/>
        </p:nvSpPr>
        <p:spPr>
          <a:xfrm>
            <a:off x="1143000" y="5467350"/>
            <a:ext cx="3657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33424D"/>
                </a:solidFill>
              </a:defRPr>
            </a:pPr>
            <a:r>
              <a:rPr sz="12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Reg. No. - 012-1111-1008-21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7041BAF-6209-4EE0-9E93-5D5615B86CCD}"/>
              </a:ext>
            </a:extLst>
          </p:cNvPr>
          <p:cNvSpPr>
            <a:spLocks noGrp="1"/>
          </p:cNvSpPr>
          <p:nvPr/>
        </p:nvSpPr>
        <p:spPr>
          <a:xfrm>
            <a:off x="7467600" y="2038350"/>
            <a:ext cx="2857500" cy="2857500"/>
          </a:xfrm>
          <a:prstGeom prst="ellipse">
            <a:avLst/>
          </a:prstGeom>
          <a:solidFill>
            <a:srgbClr val="FFFFFF">
              <a:alpha val="60000"/>
            </a:srgbClr>
          </a:solidFill>
          <a:ln w="15240">
            <a:solidFill>
              <a:srgbClr val="1FA37A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B097570-3024-4436-814D-8784D5DFAF20}"/>
              </a:ext>
            </a:extLst>
          </p:cNvPr>
          <p:cNvSpPr>
            <a:spLocks noGrp="1"/>
          </p:cNvSpPr>
          <p:nvPr/>
        </p:nvSpPr>
        <p:spPr>
          <a:xfrm>
            <a:off x="7962900" y="2533650"/>
            <a:ext cx="1866900" cy="1866900"/>
          </a:xfrm>
          <a:prstGeom prst="ellipse">
            <a:avLst/>
          </a:prstGeom>
          <a:solidFill>
            <a:srgbClr val="1FA37A">
              <a:alpha val="11373"/>
            </a:srgbClr>
          </a:solidFill>
          <a:ln w="13335">
            <a:solidFill>
              <a:srgbClr val="1FA37A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49A001-2E03-431B-ADB7-502C5C9CA7F8}"/>
              </a:ext>
            </a:extLst>
          </p:cNvPr>
          <p:cNvSpPr>
            <a:spLocks noGrp="1"/>
          </p:cNvSpPr>
          <p:nvPr/>
        </p:nvSpPr>
        <p:spPr>
          <a:xfrm>
            <a:off x="8439150" y="3009900"/>
            <a:ext cx="914400" cy="914400"/>
          </a:xfrm>
          <a:prstGeom prst="ellipse">
            <a:avLst/>
          </a:prstGeom>
          <a:solidFill>
            <a:srgbClr val="FFFDF8"/>
          </a:solidFill>
          <a:ln w="13335">
            <a:solidFill>
              <a:srgbClr val="1FA37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4A5708-96BE-467D-8B9E-E2A36690DA6C}"/>
              </a:ext>
            </a:extLst>
          </p:cNvPr>
          <p:cNvSpPr>
            <a:spLocks noGrp="1"/>
          </p:cNvSpPr>
          <p:nvPr/>
        </p:nvSpPr>
        <p:spPr>
          <a:xfrm>
            <a:off x="8820150" y="2114550"/>
            <a:ext cx="152400" cy="4572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7464FD-D6F9-4C77-8A63-BB6B977C72D9}"/>
              </a:ext>
            </a:extLst>
          </p:cNvPr>
          <p:cNvSpPr>
            <a:spLocks noGrp="1"/>
          </p:cNvSpPr>
          <p:nvPr/>
        </p:nvSpPr>
        <p:spPr>
          <a:xfrm rot="2700000">
            <a:off x="9620250" y="2457450"/>
            <a:ext cx="152400" cy="4572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57E476-60D2-4CFB-AD03-9BB16011A032}"/>
              </a:ext>
            </a:extLst>
          </p:cNvPr>
          <p:cNvSpPr>
            <a:spLocks noGrp="1"/>
          </p:cNvSpPr>
          <p:nvPr/>
        </p:nvSpPr>
        <p:spPr>
          <a:xfrm rot="5400000">
            <a:off x="9944100" y="3238500"/>
            <a:ext cx="152400" cy="4572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B12693-FF46-4708-937C-8BCA54A26DA7}"/>
              </a:ext>
            </a:extLst>
          </p:cNvPr>
          <p:cNvSpPr>
            <a:spLocks noGrp="1"/>
          </p:cNvSpPr>
          <p:nvPr/>
        </p:nvSpPr>
        <p:spPr>
          <a:xfrm rot="8100000">
            <a:off x="9620250" y="4019550"/>
            <a:ext cx="152400" cy="4572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39C9D3-9766-405E-96A1-C526B3F9F2DA}"/>
              </a:ext>
            </a:extLst>
          </p:cNvPr>
          <p:cNvSpPr>
            <a:spLocks noGrp="1"/>
          </p:cNvSpPr>
          <p:nvPr/>
        </p:nvSpPr>
        <p:spPr>
          <a:xfrm>
            <a:off x="8820150" y="4362450"/>
            <a:ext cx="152400" cy="4572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3A8D51-8E07-43A4-83A6-D09174A01F9D}"/>
              </a:ext>
            </a:extLst>
          </p:cNvPr>
          <p:cNvSpPr>
            <a:spLocks noGrp="1"/>
          </p:cNvSpPr>
          <p:nvPr/>
        </p:nvSpPr>
        <p:spPr>
          <a:xfrm rot="2700000">
            <a:off x="8020050" y="4019550"/>
            <a:ext cx="152400" cy="4572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C41C70-BC66-4983-96B4-056FC5F1798C}"/>
              </a:ext>
            </a:extLst>
          </p:cNvPr>
          <p:cNvSpPr>
            <a:spLocks noGrp="1"/>
          </p:cNvSpPr>
          <p:nvPr/>
        </p:nvSpPr>
        <p:spPr>
          <a:xfrm rot="5400000">
            <a:off x="7696200" y="3238500"/>
            <a:ext cx="152400" cy="4572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67013A-6DDD-430E-ABA3-4B43D036DE15}"/>
              </a:ext>
            </a:extLst>
          </p:cNvPr>
          <p:cNvSpPr>
            <a:spLocks noGrp="1"/>
          </p:cNvSpPr>
          <p:nvPr/>
        </p:nvSpPr>
        <p:spPr>
          <a:xfrm rot="8100000">
            <a:off x="8020050" y="2457450"/>
            <a:ext cx="152400" cy="4572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E2E7B1-7583-4639-A388-D24C510F54C4}"/>
              </a:ext>
            </a:extLst>
          </p:cNvPr>
          <p:cNvSpPr>
            <a:spLocks noGrp="1"/>
          </p:cNvSpPr>
          <p:nvPr/>
        </p:nvSpPr>
        <p:spPr>
          <a:xfrm>
            <a:off x="7143750" y="535305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33424D"/>
                </a:solidFill>
              </a:defRPr>
            </a:pPr>
            <a:r>
              <a:rPr sz="10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Theme: Remaining Useful Life (RUL) prediction for turbofan engines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13F6BB7-F9FD-4F58-B6A3-17A5F1239FF8}"/>
              </a:ext>
            </a:extLst>
          </p:cNvPr>
          <p:cNvSpPr>
            <a:spLocks noGrp="1"/>
          </p:cNvSpPr>
          <p:nvPr/>
        </p:nvSpPr>
        <p:spPr>
          <a:xfrm>
            <a:off x="10363200" y="59817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5737D"/>
                </a:solidFill>
              </a:defRPr>
            </a:pPr>
            <a:r>
              <a:rPr sz="900" b="1">
                <a:solidFill>
                  <a:srgbClr val="65737D"/>
                </a:solidFill>
                <a:latin typeface="Aptos Mono"/>
                <a:ea typeface="Aptos Mono"/>
                <a:cs typeface="Aptos Mono"/>
              </a:rPr>
              <a:t>01 / 08</a:t>
            </a:r>
          </a:p>
        </p:txBody>
      </p:sp>
    </p:spTree>
    <p:extLst>
      <p:ext uri="{BB962C8B-B14F-4D97-AF65-F5344CB8AC3E}">
        <p14:creationId xmlns:p14="http://schemas.microsoft.com/office/powerpoint/2010/main" val="1534317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>
            <a:extLst>
              <a:ext uri="{FF2B5EF4-FFF2-40B4-BE49-F238E27FC236}">
                <a16:creationId xmlns:a16="http://schemas.microsoft.com/office/drawing/2014/main" id="{D07E9CF9-C3E0-4451-8D6F-D94BF55EA4C8}"/>
              </a:ext>
            </a:extLst>
          </p:cNvPr>
          <p:cNvSpPr>
            <a:spLocks noGrp="1"/>
          </p:cNvSpPr>
          <p:nvPr/>
        </p:nvSpPr>
        <p:spPr>
          <a:xfrm>
            <a:off x="8515350" y="-895350"/>
            <a:ext cx="3619500" cy="3619500"/>
          </a:xfrm>
          <a:prstGeom prst="ellipse">
            <a:avLst/>
          </a:prstGeom>
          <a:solidFill>
            <a:srgbClr val="DCEF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F51083D-1F33-41F5-B830-774051BA93D0}"/>
              </a:ext>
            </a:extLst>
          </p:cNvPr>
          <p:cNvSpPr>
            <a:spLocks noGrp="1"/>
          </p:cNvSpPr>
          <p:nvPr/>
        </p:nvSpPr>
        <p:spPr>
          <a:xfrm>
            <a:off x="9372600" y="361950"/>
            <a:ext cx="2095500" cy="2095500"/>
          </a:xfrm>
          <a:prstGeom prst="ellipse">
            <a:avLst/>
          </a:prstGeom>
          <a:solidFill>
            <a:srgbClr val="1FA37A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286552-8322-42BC-ABC3-01D10BA76F8C}"/>
              </a:ext>
            </a:extLst>
          </p:cNvPr>
          <p:cNvSpPr>
            <a:spLocks noGrp="1"/>
          </p:cNvSpPr>
          <p:nvPr/>
        </p:nvSpPr>
        <p:spPr>
          <a:xfrm>
            <a:off x="-914400" y="4762500"/>
            <a:ext cx="3048000" cy="3048000"/>
          </a:xfrm>
          <a:prstGeom prst="ellipse">
            <a:avLst/>
          </a:prstGeom>
          <a:solidFill>
            <a:srgbClr val="F3E2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5833BE-158B-48F9-9907-624E96576F50}"/>
              </a:ext>
            </a:extLst>
          </p:cNvPr>
          <p:cNvSpPr>
            <a:spLocks noGrp="1"/>
          </p:cNvSpPr>
          <p:nvPr/>
        </p:nvSpPr>
        <p:spPr>
          <a:xfrm>
            <a:off x="0" y="5353050"/>
            <a:ext cx="1428750" cy="1428750"/>
          </a:xfrm>
          <a:prstGeom prst="ellipse">
            <a:avLst/>
          </a:prstGeom>
          <a:solidFill>
            <a:srgbClr val="E68053">
              <a:alpha val="1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9CC508-3612-4FB2-818A-6021E104F040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1007CE-5747-46B6-92A4-F72790ADBD0C}"/>
              </a:ext>
            </a:extLst>
          </p:cNvPr>
          <p:cNvSpPr>
            <a:spLocks noGrp="1"/>
          </p:cNvSpPr>
          <p:nvPr/>
        </p:nvSpPr>
        <p:spPr>
          <a:xfrm>
            <a:off x="590550" y="626745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522892-1E6D-4FF3-8C03-6668A2392FEB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6BD4AF-123D-442C-90DA-A783BE928C3E}"/>
              </a:ext>
            </a:extLst>
          </p:cNvPr>
          <p:cNvSpPr>
            <a:spLocks noGrp="1"/>
          </p:cNvSpPr>
          <p:nvPr/>
        </p:nvSpPr>
        <p:spPr>
          <a:xfrm>
            <a:off x="1158240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985AEB-AE77-4BC8-A1E5-BD83B06366E0}"/>
              </a:ext>
            </a:extLst>
          </p:cNvPr>
          <p:cNvSpPr>
            <a:spLocks noGrp="1"/>
          </p:cNvSpPr>
          <p:nvPr/>
        </p:nvSpPr>
        <p:spPr>
          <a:xfrm>
            <a:off x="10363200" y="8191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02 / 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A223E3-26DF-42D3-8B2F-31F83A9A9233}"/>
              </a:ext>
            </a:extLst>
          </p:cNvPr>
          <p:cNvSpPr>
            <a:spLocks noGrp="1"/>
          </p:cNvSpPr>
          <p:nvPr/>
        </p:nvSpPr>
        <p:spPr>
          <a:xfrm>
            <a:off x="876300" y="8191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PROJECT ABSTRACT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E7ABB1-8059-410D-97AC-80CF89E2E591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7239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Why this project matters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7415F4-F9E6-4588-9BD6-335F1EBA5546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Predictive maintenance aims to estimate failure early enough to plan maintenance before breakdown.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3D4764-89ED-4BDC-9816-B41DA1927820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5905500" cy="2743200"/>
          </a:xfrm>
          <a:prstGeom prst="roundRect">
            <a:avLst>
              <a:gd name="adj" fmla="val 2778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B0A61C-2B33-4951-A5C6-0D5E37609996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76200" cy="27432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20EA7E-1716-4251-BCB4-285A47C338EB}"/>
              </a:ext>
            </a:extLst>
          </p:cNvPr>
          <p:cNvSpPr>
            <a:spLocks noGrp="1"/>
          </p:cNvSpPr>
          <p:nvPr/>
        </p:nvSpPr>
        <p:spPr>
          <a:xfrm>
            <a:off x="1143000" y="3028950"/>
            <a:ext cx="5372100" cy="217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This project predicts the Remaining Useful Life (RUL) of turbofan</a:t>
            </a:r>
          </a:p>
          <a:p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engines from multivariate time-series sensor readings in the NASA</a:t>
            </a:r>
          </a:p>
          <a:p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C-MAPSS FD001 dataset. The workflow creates cycle-wise RUL targets,</a:t>
            </a:r>
          </a:p>
          <a:p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removes near-constant columns, engineers rolling statistical</a:t>
            </a:r>
          </a:p>
          <a:p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features, scales the predictors, and then compares linear, lasso, and</a:t>
            </a:r>
          </a:p>
          <a:p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ridge regression models. A reliable RUL estimate helps schedule</a:t>
            </a:r>
          </a:p>
          <a:p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inspection or component replacement before complete failure, which</a:t>
            </a:r>
          </a:p>
          <a:p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supports safer operation and reduces unexpected downtime.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1FF2C5F-5313-4848-855F-645969F29002}"/>
              </a:ext>
            </a:extLst>
          </p:cNvPr>
          <p:cNvSpPr>
            <a:spLocks noGrp="1"/>
          </p:cNvSpPr>
          <p:nvPr/>
        </p:nvSpPr>
        <p:spPr>
          <a:xfrm>
            <a:off x="7124700" y="2743200"/>
            <a:ext cx="3543300" cy="1390650"/>
          </a:xfrm>
          <a:prstGeom prst="roundRect">
            <a:avLst>
              <a:gd name="adj" fmla="val 5479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2D9EA1-450E-4BAF-A42D-2593F01BC649}"/>
              </a:ext>
            </a:extLst>
          </p:cNvPr>
          <p:cNvSpPr>
            <a:spLocks noGrp="1"/>
          </p:cNvSpPr>
          <p:nvPr/>
        </p:nvSpPr>
        <p:spPr>
          <a:xfrm>
            <a:off x="7124700" y="2743200"/>
            <a:ext cx="76200" cy="1390650"/>
          </a:xfrm>
          <a:prstGeom prst="rect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EAC9F4-B421-4744-B0F4-037379FD0E01}"/>
              </a:ext>
            </a:extLst>
          </p:cNvPr>
          <p:cNvSpPr>
            <a:spLocks noGrp="1"/>
          </p:cNvSpPr>
          <p:nvPr/>
        </p:nvSpPr>
        <p:spPr>
          <a:xfrm>
            <a:off x="7391400" y="29527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Objective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8AC625-3AEB-4B08-B55A-C412AF8A4289}"/>
              </a:ext>
            </a:extLst>
          </p:cNvPr>
          <p:cNvSpPr>
            <a:spLocks noGrp="1"/>
          </p:cNvSpPr>
          <p:nvPr/>
        </p:nvSpPr>
        <p:spPr>
          <a:xfrm>
            <a:off x="7391400" y="3257550"/>
            <a:ext cx="30861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Estimate how many operating cycles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remain before an engine needs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maintenance using cycle, setting, and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sensor data.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CB03870-2F45-4AE3-86C3-DB9F36DCD636}"/>
              </a:ext>
            </a:extLst>
          </p:cNvPr>
          <p:cNvSpPr>
            <a:spLocks noGrp="1"/>
          </p:cNvSpPr>
          <p:nvPr/>
        </p:nvSpPr>
        <p:spPr>
          <a:xfrm>
            <a:off x="7124700" y="4267200"/>
            <a:ext cx="3543300" cy="1390650"/>
          </a:xfrm>
          <a:prstGeom prst="roundRect">
            <a:avLst>
              <a:gd name="adj" fmla="val 5479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105D214-B0F0-475E-B847-D76C4E18423A}"/>
              </a:ext>
            </a:extLst>
          </p:cNvPr>
          <p:cNvSpPr>
            <a:spLocks noGrp="1"/>
          </p:cNvSpPr>
          <p:nvPr/>
        </p:nvSpPr>
        <p:spPr>
          <a:xfrm>
            <a:off x="7124700" y="4267200"/>
            <a:ext cx="76200" cy="1390650"/>
          </a:xfrm>
          <a:prstGeom prst="rect">
            <a:avLst/>
          </a:prstGeom>
          <a:solidFill>
            <a:srgbClr val="E68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DA4413-5DBA-46FE-B4E4-4832F2A242F5}"/>
              </a:ext>
            </a:extLst>
          </p:cNvPr>
          <p:cNvSpPr>
            <a:spLocks noGrp="1"/>
          </p:cNvSpPr>
          <p:nvPr/>
        </p:nvSpPr>
        <p:spPr>
          <a:xfrm>
            <a:off x="7391400" y="4476750"/>
            <a:ext cx="3162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Outcome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E71B62-3FB3-4C4D-94D0-3B38EB9DC70D}"/>
              </a:ext>
            </a:extLst>
          </p:cNvPr>
          <p:cNvSpPr>
            <a:spLocks noGrp="1"/>
          </p:cNvSpPr>
          <p:nvPr/>
        </p:nvSpPr>
        <p:spPr>
          <a:xfrm>
            <a:off x="7391400" y="4781550"/>
            <a:ext cx="30861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 model converts sensor history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into an early maintenance forecast,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reducing unexpected failure and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reactive repair.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D58B0B-8B8F-459B-85A6-5FA6B26DE6D8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463433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Oval 38">
            <a:extLst>
              <a:ext uri="{FF2B5EF4-FFF2-40B4-BE49-F238E27FC236}">
                <a16:creationId xmlns:a16="http://schemas.microsoft.com/office/drawing/2014/main" id="{D5F36278-07D5-4FDD-B792-C223658216C5}"/>
              </a:ext>
            </a:extLst>
          </p:cNvPr>
          <p:cNvSpPr>
            <a:spLocks noGrp="1"/>
          </p:cNvSpPr>
          <p:nvPr/>
        </p:nvSpPr>
        <p:spPr>
          <a:xfrm>
            <a:off x="8343900" y="-819150"/>
            <a:ext cx="3619500" cy="3619500"/>
          </a:xfrm>
          <a:prstGeom prst="ellipse">
            <a:avLst/>
          </a:prstGeom>
          <a:solidFill>
            <a:srgbClr val="DCEF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9E9D7E6-E2BF-4B81-B725-F1E167B7526A}"/>
              </a:ext>
            </a:extLst>
          </p:cNvPr>
          <p:cNvSpPr>
            <a:spLocks noGrp="1"/>
          </p:cNvSpPr>
          <p:nvPr/>
        </p:nvSpPr>
        <p:spPr>
          <a:xfrm>
            <a:off x="9296400" y="495300"/>
            <a:ext cx="2095500" cy="2095500"/>
          </a:xfrm>
          <a:prstGeom prst="ellipse">
            <a:avLst/>
          </a:prstGeom>
          <a:solidFill>
            <a:srgbClr val="1FA37A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6A20A52-FC75-4E8F-87FF-7DBF0F5300BA}"/>
              </a:ext>
            </a:extLst>
          </p:cNvPr>
          <p:cNvSpPr>
            <a:spLocks noGrp="1"/>
          </p:cNvSpPr>
          <p:nvPr/>
        </p:nvSpPr>
        <p:spPr>
          <a:xfrm>
            <a:off x="-800100" y="4667250"/>
            <a:ext cx="3048000" cy="3048000"/>
          </a:xfrm>
          <a:prstGeom prst="ellipse">
            <a:avLst/>
          </a:prstGeom>
          <a:solidFill>
            <a:srgbClr val="F3E2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83520DC-0142-4485-AEE6-B11E674A466F}"/>
              </a:ext>
            </a:extLst>
          </p:cNvPr>
          <p:cNvSpPr>
            <a:spLocks noGrp="1"/>
          </p:cNvSpPr>
          <p:nvPr/>
        </p:nvSpPr>
        <p:spPr>
          <a:xfrm>
            <a:off x="95250" y="5295900"/>
            <a:ext cx="1428750" cy="1428750"/>
          </a:xfrm>
          <a:prstGeom prst="ellipse">
            <a:avLst/>
          </a:prstGeom>
          <a:solidFill>
            <a:srgbClr val="E68053">
              <a:alpha val="1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C5B7E-F3D7-4E77-B3BF-CBF87CAC8354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CE6C0A-81F8-42C1-8E86-7C114AF3C47D}"/>
              </a:ext>
            </a:extLst>
          </p:cNvPr>
          <p:cNvSpPr>
            <a:spLocks noGrp="1"/>
          </p:cNvSpPr>
          <p:nvPr/>
        </p:nvSpPr>
        <p:spPr>
          <a:xfrm>
            <a:off x="590550" y="626745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5B5241-4393-4AAD-A657-FD0D954F237B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02A983-3CD6-477A-95A5-0A85076A88B2}"/>
              </a:ext>
            </a:extLst>
          </p:cNvPr>
          <p:cNvSpPr>
            <a:spLocks noGrp="1"/>
          </p:cNvSpPr>
          <p:nvPr/>
        </p:nvSpPr>
        <p:spPr>
          <a:xfrm>
            <a:off x="1158240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5C7D04-49CE-4E29-90F1-C3D7DE09D840}"/>
              </a:ext>
            </a:extLst>
          </p:cNvPr>
          <p:cNvSpPr>
            <a:spLocks noGrp="1"/>
          </p:cNvSpPr>
          <p:nvPr/>
        </p:nvSpPr>
        <p:spPr>
          <a:xfrm>
            <a:off x="10363200" y="8191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03 / 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1618B1-09A0-40B0-94D3-279526BA8A01}"/>
              </a:ext>
            </a:extLst>
          </p:cNvPr>
          <p:cNvSpPr>
            <a:spLocks noGrp="1"/>
          </p:cNvSpPr>
          <p:nvPr/>
        </p:nvSpPr>
        <p:spPr>
          <a:xfrm>
            <a:off x="876300" y="8191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CHOSEN DATASET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E210EB-9584-4BE5-887A-7BC4792DA106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7239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NASA C-MAPSS FD001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99C861-0889-49EE-A4D4-7C4047806B33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The project uses one operating-condition subset of the simulated turbofan degradation benchmark.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05B6041-AB92-45BB-AAFB-B498EEF38E15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4457700" cy="2628900"/>
          </a:xfrm>
          <a:prstGeom prst="roundRect">
            <a:avLst>
              <a:gd name="adj" fmla="val 2899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78E7F9-6730-4181-BA2F-903AA2BFD6DA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76200" cy="26289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2B87C5-A2FA-4C88-886A-8B0C8BF09C14}"/>
              </a:ext>
            </a:extLst>
          </p:cNvPr>
          <p:cNvSpPr>
            <a:spLocks noGrp="1"/>
          </p:cNvSpPr>
          <p:nvPr/>
        </p:nvSpPr>
        <p:spPr>
          <a:xfrm>
            <a:off x="1143000" y="2990850"/>
            <a:ext cx="4076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What it 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E46D0C-660B-4DBC-A612-4C87CE5127A1}"/>
              </a:ext>
            </a:extLst>
          </p:cNvPr>
          <p:cNvSpPr>
            <a:spLocks noGrp="1"/>
          </p:cNvSpPr>
          <p:nvPr/>
        </p:nvSpPr>
        <p:spPr>
          <a:xfrm>
            <a:off x="1143000" y="3295650"/>
            <a:ext cx="4000500" cy="1943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FD001 is a run-to-failure turbofan engine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dataset. Each row records one engine cycle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with engine id, cycle index, 3 operational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settings, and 21 sensor measurements. The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training split contains 100 engines observed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until failure.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44B5D89-157D-4B1E-93A6-989D6FFA2064}"/>
              </a:ext>
            </a:extLst>
          </p:cNvPr>
          <p:cNvSpPr>
            <a:spLocks noGrp="1"/>
          </p:cNvSpPr>
          <p:nvPr/>
        </p:nvSpPr>
        <p:spPr>
          <a:xfrm>
            <a:off x="5715000" y="278130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B63790-47BF-407E-A25C-C19EF522A4F1}"/>
              </a:ext>
            </a:extLst>
          </p:cNvPr>
          <p:cNvSpPr>
            <a:spLocks noGrp="1"/>
          </p:cNvSpPr>
          <p:nvPr/>
        </p:nvSpPr>
        <p:spPr>
          <a:xfrm>
            <a:off x="5715000" y="2781300"/>
            <a:ext cx="2095500" cy="66675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3674C1-6260-4281-84B3-2A84B67219E1}"/>
              </a:ext>
            </a:extLst>
          </p:cNvPr>
          <p:cNvSpPr>
            <a:spLocks noGrp="1"/>
          </p:cNvSpPr>
          <p:nvPr/>
        </p:nvSpPr>
        <p:spPr>
          <a:xfrm>
            <a:off x="5924550" y="3009900"/>
            <a:ext cx="167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12B"/>
                </a:solidFill>
              </a:defRPr>
            </a:pPr>
            <a:r>
              <a:rPr sz="240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20,631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207E98-AECC-4585-A56A-5D93FA161321}"/>
              </a:ext>
            </a:extLst>
          </p:cNvPr>
          <p:cNvSpPr>
            <a:spLocks noGrp="1"/>
          </p:cNvSpPr>
          <p:nvPr/>
        </p:nvSpPr>
        <p:spPr>
          <a:xfrm>
            <a:off x="5924550" y="3467100"/>
            <a:ext cx="1676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24D"/>
                </a:solidFill>
              </a:defRPr>
            </a:pPr>
            <a:r>
              <a:rPr sz="112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rows in train_FD001.txt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5277874-F383-4878-8897-7BC16D228F7B}"/>
              </a:ext>
            </a:extLst>
          </p:cNvPr>
          <p:cNvSpPr>
            <a:spLocks noGrp="1"/>
          </p:cNvSpPr>
          <p:nvPr/>
        </p:nvSpPr>
        <p:spPr>
          <a:xfrm>
            <a:off x="8020050" y="278130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D43811-A661-4734-B868-F97FAE9AD56F}"/>
              </a:ext>
            </a:extLst>
          </p:cNvPr>
          <p:cNvSpPr>
            <a:spLocks noGrp="1"/>
          </p:cNvSpPr>
          <p:nvPr/>
        </p:nvSpPr>
        <p:spPr>
          <a:xfrm>
            <a:off x="8020050" y="2781300"/>
            <a:ext cx="2095500" cy="66675"/>
          </a:xfrm>
          <a:prstGeom prst="rect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6991C7-E417-4212-A42F-BD66DBBB4E45}"/>
              </a:ext>
            </a:extLst>
          </p:cNvPr>
          <p:cNvSpPr>
            <a:spLocks noGrp="1"/>
          </p:cNvSpPr>
          <p:nvPr/>
        </p:nvSpPr>
        <p:spPr>
          <a:xfrm>
            <a:off x="8229600" y="3009900"/>
            <a:ext cx="167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12B"/>
                </a:solidFill>
              </a:defRPr>
            </a:pPr>
            <a:r>
              <a:rPr sz="240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C4A01C-0BA0-42F6-9584-AA88BF3B187F}"/>
              </a:ext>
            </a:extLst>
          </p:cNvPr>
          <p:cNvSpPr>
            <a:spLocks noGrp="1"/>
          </p:cNvSpPr>
          <p:nvPr/>
        </p:nvSpPr>
        <p:spPr>
          <a:xfrm>
            <a:off x="8229600" y="3467100"/>
            <a:ext cx="1676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24D"/>
                </a:solidFill>
              </a:defRPr>
            </a:pPr>
            <a:r>
              <a:rPr sz="112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raw columns before RUL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021C48C-ABCC-4D8E-9DB1-53069D56E151}"/>
              </a:ext>
            </a:extLst>
          </p:cNvPr>
          <p:cNvSpPr>
            <a:spLocks noGrp="1"/>
          </p:cNvSpPr>
          <p:nvPr/>
        </p:nvSpPr>
        <p:spPr>
          <a:xfrm>
            <a:off x="5715000" y="40957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884E23-738D-45FC-8599-F553E422A452}"/>
              </a:ext>
            </a:extLst>
          </p:cNvPr>
          <p:cNvSpPr>
            <a:spLocks noGrp="1"/>
          </p:cNvSpPr>
          <p:nvPr/>
        </p:nvSpPr>
        <p:spPr>
          <a:xfrm>
            <a:off x="5715000" y="4095750"/>
            <a:ext cx="2095500" cy="66675"/>
          </a:xfrm>
          <a:prstGeom prst="rect">
            <a:avLst/>
          </a:prstGeom>
          <a:solidFill>
            <a:srgbClr val="E68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E6E62E-D2D9-410F-B191-3AE3A4FA93A9}"/>
              </a:ext>
            </a:extLst>
          </p:cNvPr>
          <p:cNvSpPr>
            <a:spLocks noGrp="1"/>
          </p:cNvSpPr>
          <p:nvPr/>
        </p:nvSpPr>
        <p:spPr>
          <a:xfrm>
            <a:off x="5924550" y="4324350"/>
            <a:ext cx="167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12B"/>
                </a:solidFill>
              </a:defRPr>
            </a:pPr>
            <a:r>
              <a:rPr sz="240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100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7798A6-4DF4-4C9C-A41F-0F8CF31251FD}"/>
              </a:ext>
            </a:extLst>
          </p:cNvPr>
          <p:cNvSpPr>
            <a:spLocks noGrp="1"/>
          </p:cNvSpPr>
          <p:nvPr/>
        </p:nvSpPr>
        <p:spPr>
          <a:xfrm>
            <a:off x="5924550" y="4781550"/>
            <a:ext cx="1676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24D"/>
                </a:solidFill>
              </a:defRPr>
            </a:pPr>
            <a:r>
              <a:rPr sz="112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unique engines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84A14CD-4260-4877-ABA7-C8980D6E5118}"/>
              </a:ext>
            </a:extLst>
          </p:cNvPr>
          <p:cNvSpPr>
            <a:spLocks noGrp="1"/>
          </p:cNvSpPr>
          <p:nvPr/>
        </p:nvSpPr>
        <p:spPr>
          <a:xfrm>
            <a:off x="8020050" y="4095750"/>
            <a:ext cx="2095500" cy="1143000"/>
          </a:xfrm>
          <a:prstGeom prst="roundRect">
            <a:avLst>
              <a:gd name="adj" fmla="val 6667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B44641E-D013-4BAC-8C52-81703890FEFB}"/>
              </a:ext>
            </a:extLst>
          </p:cNvPr>
          <p:cNvSpPr>
            <a:spLocks noGrp="1"/>
          </p:cNvSpPr>
          <p:nvPr/>
        </p:nvSpPr>
        <p:spPr>
          <a:xfrm>
            <a:off x="8020050" y="4095750"/>
            <a:ext cx="2095500" cy="66675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2B7CD02-47BD-47B4-B1FE-141401B89F4D}"/>
              </a:ext>
            </a:extLst>
          </p:cNvPr>
          <p:cNvSpPr>
            <a:spLocks noGrp="1"/>
          </p:cNvSpPr>
          <p:nvPr/>
        </p:nvSpPr>
        <p:spPr>
          <a:xfrm>
            <a:off x="8229600" y="4324350"/>
            <a:ext cx="1676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4212B"/>
                </a:solidFill>
              </a:defRPr>
            </a:pPr>
            <a:r>
              <a:rPr sz="240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46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DA01949-87DB-4BAC-A9A1-20A04572B83E}"/>
              </a:ext>
            </a:extLst>
          </p:cNvPr>
          <p:cNvSpPr>
            <a:spLocks noGrp="1"/>
          </p:cNvSpPr>
          <p:nvPr/>
        </p:nvSpPr>
        <p:spPr>
          <a:xfrm>
            <a:off x="8229600" y="4781550"/>
            <a:ext cx="1676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24D"/>
                </a:solidFill>
              </a:defRPr>
            </a:pPr>
            <a:r>
              <a:rPr sz="112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columns after engineering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A8F8D27-5157-4FFA-ACDD-EDEE1C783AD6}"/>
              </a:ext>
            </a:extLst>
          </p:cNvPr>
          <p:cNvSpPr>
            <a:spLocks noGrp="1"/>
          </p:cNvSpPr>
          <p:nvPr/>
        </p:nvSpPr>
        <p:spPr>
          <a:xfrm>
            <a:off x="10287000" y="2781300"/>
            <a:ext cx="1104900" cy="2457450"/>
          </a:xfrm>
          <a:prstGeom prst="roundRect">
            <a:avLst>
              <a:gd name="adj" fmla="val 6897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D283D8F-BC78-4B41-8AA2-B132C3B3A807}"/>
              </a:ext>
            </a:extLst>
          </p:cNvPr>
          <p:cNvSpPr>
            <a:spLocks noGrp="1"/>
          </p:cNvSpPr>
          <p:nvPr/>
        </p:nvSpPr>
        <p:spPr>
          <a:xfrm>
            <a:off x="10287000" y="3048000"/>
            <a:ext cx="1104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4212B"/>
                </a:solidFill>
              </a:defRPr>
            </a:pPr>
            <a:r>
              <a:rPr sz="22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3569D4-6CE9-4099-B78E-5D28E457C4C1}"/>
              </a:ext>
            </a:extLst>
          </p:cNvPr>
          <p:cNvSpPr>
            <a:spLocks noGrp="1"/>
          </p:cNvSpPr>
          <p:nvPr/>
        </p:nvSpPr>
        <p:spPr>
          <a:xfrm>
            <a:off x="10401300" y="3448050"/>
            <a:ext cx="8763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33424D"/>
                </a:solidFill>
              </a:defRPr>
            </a:pPr>
            <a:r>
              <a:rPr sz="9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columns after</a:t>
            </a:r>
          </a:p>
          <a:p>
            <a:pPr algn="ctr">
              <a:defRPr sz="975" b="0">
                <a:solidFill>
                  <a:srgbClr val="33424D"/>
                </a:solidFill>
              </a:defRPr>
            </a:pPr>
            <a:r>
              <a:rPr sz="9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adding RUL target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384D839-9CDF-4C39-AD65-17F1B4403D26}"/>
              </a:ext>
            </a:extLst>
          </p:cNvPr>
          <p:cNvSpPr>
            <a:spLocks noGrp="1"/>
          </p:cNvSpPr>
          <p:nvPr/>
        </p:nvSpPr>
        <p:spPr>
          <a:xfrm>
            <a:off x="10287000" y="4114800"/>
            <a:ext cx="1104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14212B"/>
                </a:solidFill>
              </a:defRPr>
            </a:pPr>
            <a:r>
              <a:rPr sz="22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17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618218-1588-4407-BC39-11619BC728FF}"/>
              </a:ext>
            </a:extLst>
          </p:cNvPr>
          <p:cNvSpPr>
            <a:spLocks noGrp="1"/>
          </p:cNvSpPr>
          <p:nvPr/>
        </p:nvSpPr>
        <p:spPr>
          <a:xfrm>
            <a:off x="10401300" y="4514850"/>
            <a:ext cx="8763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33424D"/>
                </a:solidFill>
              </a:defRPr>
            </a:pPr>
            <a:r>
              <a:rPr sz="9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columns after</a:t>
            </a:r>
          </a:p>
          <a:p>
            <a:pPr algn="ctr">
              <a:defRPr sz="975" b="0">
                <a:solidFill>
                  <a:srgbClr val="33424D"/>
                </a:solidFill>
              </a:defRPr>
            </a:pPr>
            <a:r>
              <a:rPr sz="975" b="0">
                <a:solidFill>
                  <a:srgbClr val="33424D"/>
                </a:solidFill>
                <a:latin typeface="Lato"/>
                <a:ea typeface="Lato"/>
                <a:cs typeface="Lato"/>
              </a:rPr>
              <a:t>column filtering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4C5B483-45AD-41FA-9FB3-E8DA092336E0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1390159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C97F919C-1969-4567-95EC-1E26FCAF7D92}"/>
              </a:ext>
            </a:extLst>
          </p:cNvPr>
          <p:cNvSpPr>
            <a:spLocks noGrp="1"/>
          </p:cNvSpPr>
          <p:nvPr/>
        </p:nvSpPr>
        <p:spPr>
          <a:xfrm>
            <a:off x="8172450" y="-742950"/>
            <a:ext cx="3619500" cy="3619500"/>
          </a:xfrm>
          <a:prstGeom prst="ellipse">
            <a:avLst/>
          </a:prstGeom>
          <a:solidFill>
            <a:srgbClr val="DCEF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0E73DF7-1935-4CF7-AAB6-B93D91DAB64E}"/>
              </a:ext>
            </a:extLst>
          </p:cNvPr>
          <p:cNvSpPr>
            <a:spLocks noGrp="1"/>
          </p:cNvSpPr>
          <p:nvPr/>
        </p:nvSpPr>
        <p:spPr>
          <a:xfrm>
            <a:off x="9220200" y="628650"/>
            <a:ext cx="2095500" cy="2095500"/>
          </a:xfrm>
          <a:prstGeom prst="ellipse">
            <a:avLst/>
          </a:prstGeom>
          <a:solidFill>
            <a:srgbClr val="1FA37A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610F604-56CC-4AD9-9674-F1D9B9D6572C}"/>
              </a:ext>
            </a:extLst>
          </p:cNvPr>
          <p:cNvSpPr>
            <a:spLocks noGrp="1"/>
          </p:cNvSpPr>
          <p:nvPr/>
        </p:nvSpPr>
        <p:spPr>
          <a:xfrm>
            <a:off x="-685800" y="4572000"/>
            <a:ext cx="3048000" cy="3048000"/>
          </a:xfrm>
          <a:prstGeom prst="ellipse">
            <a:avLst/>
          </a:prstGeom>
          <a:solidFill>
            <a:srgbClr val="F3E2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AE6643-D63D-4178-84EE-A9308ED6EABC}"/>
              </a:ext>
            </a:extLst>
          </p:cNvPr>
          <p:cNvSpPr>
            <a:spLocks noGrp="1"/>
          </p:cNvSpPr>
          <p:nvPr/>
        </p:nvSpPr>
        <p:spPr>
          <a:xfrm>
            <a:off x="190500" y="5238750"/>
            <a:ext cx="1428750" cy="1428750"/>
          </a:xfrm>
          <a:prstGeom prst="ellipse">
            <a:avLst/>
          </a:prstGeom>
          <a:solidFill>
            <a:srgbClr val="E68053">
              <a:alpha val="1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4BC4C0-91F0-4620-89A5-74E2452B04C1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F5185-CA29-42E5-BBAF-95FF8D52BFAC}"/>
              </a:ext>
            </a:extLst>
          </p:cNvPr>
          <p:cNvSpPr>
            <a:spLocks noGrp="1"/>
          </p:cNvSpPr>
          <p:nvPr/>
        </p:nvSpPr>
        <p:spPr>
          <a:xfrm>
            <a:off x="590550" y="626745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E3C33B-36FB-43DF-9CF4-005EC94FCE80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921259-6469-49FC-8C81-E70A7ED927D8}"/>
              </a:ext>
            </a:extLst>
          </p:cNvPr>
          <p:cNvSpPr>
            <a:spLocks noGrp="1"/>
          </p:cNvSpPr>
          <p:nvPr/>
        </p:nvSpPr>
        <p:spPr>
          <a:xfrm>
            <a:off x="1158240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982FF7-ECF6-4975-BEAD-3F08235B41BB}"/>
              </a:ext>
            </a:extLst>
          </p:cNvPr>
          <p:cNvSpPr>
            <a:spLocks noGrp="1"/>
          </p:cNvSpPr>
          <p:nvPr/>
        </p:nvSpPr>
        <p:spPr>
          <a:xfrm>
            <a:off x="10363200" y="8191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04 / 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C15C80-CDEB-4C67-BE63-36E305A629F3}"/>
              </a:ext>
            </a:extLst>
          </p:cNvPr>
          <p:cNvSpPr>
            <a:spLocks noGrp="1"/>
          </p:cNvSpPr>
          <p:nvPr/>
        </p:nvSpPr>
        <p:spPr>
          <a:xfrm>
            <a:off x="876300" y="8191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COLUMN REMOVAL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8C10AC-9ED5-4128-9A5D-BEA346BB8D66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7239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Near-zero-variance features were removed before modeling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8728143-623D-47BD-B0BD-BBEF26AC7E9A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Flat columns contribute little information because they barely change across engines or cycles.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56732F-0FEC-4881-9659-0AD4E2EF7F83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3333750" cy="2381250"/>
          </a:xfrm>
          <a:prstGeom prst="roundRect">
            <a:avLst>
              <a:gd name="adj" fmla="val 3200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E22F95-594A-4355-A45E-9542DBEDFDAD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76200" cy="238125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1E1A7C-477D-4D3A-8646-0FC109EE5095}"/>
              </a:ext>
            </a:extLst>
          </p:cNvPr>
          <p:cNvSpPr>
            <a:spLocks noGrp="1"/>
          </p:cNvSpPr>
          <p:nvPr/>
        </p:nvSpPr>
        <p:spPr>
          <a:xfrm>
            <a:off x="1143000" y="293370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How it was done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3EBD57-9009-47D7-9B04-B30370AA8B32}"/>
              </a:ext>
            </a:extLst>
          </p:cNvPr>
          <p:cNvSpPr>
            <a:spLocks noGrp="1"/>
          </p:cNvSpPr>
          <p:nvPr/>
        </p:nvSpPr>
        <p:spPr>
          <a:xfrm>
            <a:off x="1143000" y="3238500"/>
            <a:ext cx="2876550" cy="1695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 notebook computed variance for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every operational setting and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sensor on train_FD001_with_RUL.csv.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Any field satisfying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round(variance, 5) &lt; 1e-10 was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treated as effectively constant and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then dropped from the cleaned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dataset.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13E70F-EB2B-4AEC-892B-8D8432EAFB00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3009900" cy="2381250"/>
          </a:xfrm>
          <a:prstGeom prst="roundRect">
            <a:avLst>
              <a:gd name="adj" fmla="val 320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65E65D6-AACF-4E14-8B13-B9FFE9366B3C}"/>
              </a:ext>
            </a:extLst>
          </p:cNvPr>
          <p:cNvSpPr>
            <a:spLocks noGrp="1"/>
          </p:cNvSpPr>
          <p:nvPr/>
        </p:nvSpPr>
        <p:spPr>
          <a:xfrm>
            <a:off x="4476750" y="2724150"/>
            <a:ext cx="76200" cy="2381250"/>
          </a:xfrm>
          <a:prstGeom prst="rect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4A432B-A4B4-4826-9F9C-79A462C69A2D}"/>
              </a:ext>
            </a:extLst>
          </p:cNvPr>
          <p:cNvSpPr>
            <a:spLocks noGrp="1"/>
          </p:cNvSpPr>
          <p:nvPr/>
        </p:nvSpPr>
        <p:spPr>
          <a:xfrm>
            <a:off x="4743450" y="2914650"/>
            <a:ext cx="26289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6651"/>
                </a:solidFill>
              </a:defRPr>
            </a:pPr>
            <a:r>
              <a:rPr sz="12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Removed settings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FBFB6E-FF7C-42D7-A38D-8E523C30D6B8}"/>
              </a:ext>
            </a:extLst>
          </p:cNvPr>
          <p:cNvSpPr>
            <a:spLocks noGrp="1"/>
          </p:cNvSpPr>
          <p:nvPr/>
        </p:nvSpPr>
        <p:spPr>
          <a:xfrm>
            <a:off x="4743450" y="3333750"/>
            <a:ext cx="253365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• setting_1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• setting_2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• setting_3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0E68F3E-F1B2-4C61-890B-02A2D4985D51}"/>
              </a:ext>
            </a:extLst>
          </p:cNvPr>
          <p:cNvSpPr>
            <a:spLocks noGrp="1"/>
          </p:cNvSpPr>
          <p:nvPr/>
        </p:nvSpPr>
        <p:spPr>
          <a:xfrm>
            <a:off x="7734300" y="2724150"/>
            <a:ext cx="3657600" cy="2381250"/>
          </a:xfrm>
          <a:prstGeom prst="roundRect">
            <a:avLst>
              <a:gd name="adj" fmla="val 320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E0C64D2-A990-4208-8E4D-17D06468FE10}"/>
              </a:ext>
            </a:extLst>
          </p:cNvPr>
          <p:cNvSpPr>
            <a:spLocks noGrp="1"/>
          </p:cNvSpPr>
          <p:nvPr/>
        </p:nvSpPr>
        <p:spPr>
          <a:xfrm>
            <a:off x="7734300" y="2724150"/>
            <a:ext cx="76200" cy="2381250"/>
          </a:xfrm>
          <a:prstGeom prst="rect">
            <a:avLst/>
          </a:prstGeom>
          <a:solidFill>
            <a:srgbClr val="E68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6E1066B-1999-452B-93A4-98049876C8B2}"/>
              </a:ext>
            </a:extLst>
          </p:cNvPr>
          <p:cNvSpPr>
            <a:spLocks noGrp="1"/>
          </p:cNvSpPr>
          <p:nvPr/>
        </p:nvSpPr>
        <p:spPr>
          <a:xfrm>
            <a:off x="8001000" y="2914650"/>
            <a:ext cx="3276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6651"/>
                </a:solidFill>
              </a:defRPr>
            </a:pPr>
            <a:r>
              <a:rPr sz="12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Removed sensors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9A45104-560B-4F6F-86D2-EAFE05E35A45}"/>
              </a:ext>
            </a:extLst>
          </p:cNvPr>
          <p:cNvSpPr>
            <a:spLocks noGrp="1"/>
          </p:cNvSpPr>
          <p:nvPr/>
        </p:nvSpPr>
        <p:spPr>
          <a:xfrm>
            <a:off x="8001000" y="3333750"/>
            <a:ext cx="318135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• s_1, s_5, s_6, s_10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• s_16, s_18, s_19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C3B213B-ED1F-4B55-9D76-3C78B364CD26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10515600" cy="552450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0EF5C3D-A237-4434-B2E0-081CEE92365F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76200" cy="55245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03FF4A-411C-4088-BC6F-620D7A54CFCB}"/>
              </a:ext>
            </a:extLst>
          </p:cNvPr>
          <p:cNvSpPr>
            <a:spLocks noGrp="1"/>
          </p:cNvSpPr>
          <p:nvPr/>
        </p:nvSpPr>
        <p:spPr>
          <a:xfrm>
            <a:off x="1143000" y="5514975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Result: 10 low-information columns were removed, reducing the dataset from 27 columns to 17 columns and retaining 14 active sensors for modeling.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3672A7-7505-4C50-9F16-9A2A371EF67E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1283543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06C1488D-5D49-4667-8396-781C53F3C132}"/>
              </a:ext>
            </a:extLst>
          </p:cNvPr>
          <p:cNvSpPr>
            <a:spLocks noGrp="1"/>
          </p:cNvSpPr>
          <p:nvPr/>
        </p:nvSpPr>
        <p:spPr>
          <a:xfrm>
            <a:off x="8001000" y="-666750"/>
            <a:ext cx="3619500" cy="3619500"/>
          </a:xfrm>
          <a:prstGeom prst="ellipse">
            <a:avLst/>
          </a:prstGeom>
          <a:solidFill>
            <a:srgbClr val="DCEF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54AC532-2A94-4CEE-9094-C0C7A66B3B3E}"/>
              </a:ext>
            </a:extLst>
          </p:cNvPr>
          <p:cNvSpPr>
            <a:spLocks noGrp="1"/>
          </p:cNvSpPr>
          <p:nvPr/>
        </p:nvSpPr>
        <p:spPr>
          <a:xfrm>
            <a:off x="9144000" y="762000"/>
            <a:ext cx="2095500" cy="2095500"/>
          </a:xfrm>
          <a:prstGeom prst="ellipse">
            <a:avLst/>
          </a:prstGeom>
          <a:solidFill>
            <a:srgbClr val="1FA37A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DAF9E43-EB9B-46C3-B10A-DBB33DDF9EF2}"/>
              </a:ext>
            </a:extLst>
          </p:cNvPr>
          <p:cNvSpPr>
            <a:spLocks noGrp="1"/>
          </p:cNvSpPr>
          <p:nvPr/>
        </p:nvSpPr>
        <p:spPr>
          <a:xfrm>
            <a:off x="-571500" y="4476750"/>
            <a:ext cx="3048000" cy="3048000"/>
          </a:xfrm>
          <a:prstGeom prst="ellipse">
            <a:avLst/>
          </a:prstGeom>
          <a:solidFill>
            <a:srgbClr val="F3E2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F0477A1-1E89-4B04-95B3-6645D753CF16}"/>
              </a:ext>
            </a:extLst>
          </p:cNvPr>
          <p:cNvSpPr>
            <a:spLocks noGrp="1"/>
          </p:cNvSpPr>
          <p:nvPr/>
        </p:nvSpPr>
        <p:spPr>
          <a:xfrm>
            <a:off x="285750" y="5181600"/>
            <a:ext cx="1428750" cy="1428750"/>
          </a:xfrm>
          <a:prstGeom prst="ellipse">
            <a:avLst/>
          </a:prstGeom>
          <a:solidFill>
            <a:srgbClr val="E68053">
              <a:alpha val="1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C40E4B-CF37-42ED-8A3B-0AF00AD66F99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9A1C0-4317-492D-B7B5-0660D413EBDA}"/>
              </a:ext>
            </a:extLst>
          </p:cNvPr>
          <p:cNvSpPr>
            <a:spLocks noGrp="1"/>
          </p:cNvSpPr>
          <p:nvPr/>
        </p:nvSpPr>
        <p:spPr>
          <a:xfrm>
            <a:off x="590550" y="626745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A81E6-B8C4-4ADA-9CF7-C473262D9648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B15BEE-2E0F-45B9-BFE5-1243C06FB0C0}"/>
              </a:ext>
            </a:extLst>
          </p:cNvPr>
          <p:cNvSpPr>
            <a:spLocks noGrp="1"/>
          </p:cNvSpPr>
          <p:nvPr/>
        </p:nvSpPr>
        <p:spPr>
          <a:xfrm>
            <a:off x="1158240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D2F01C-5EDD-4189-A22C-23B2029AD1B0}"/>
              </a:ext>
            </a:extLst>
          </p:cNvPr>
          <p:cNvSpPr>
            <a:spLocks noGrp="1"/>
          </p:cNvSpPr>
          <p:nvPr/>
        </p:nvSpPr>
        <p:spPr>
          <a:xfrm>
            <a:off x="10363200" y="8191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05 / 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9371CB-BF73-4D72-BF9A-B9E375948863}"/>
              </a:ext>
            </a:extLst>
          </p:cNvPr>
          <p:cNvSpPr>
            <a:spLocks noGrp="1"/>
          </p:cNvSpPr>
          <p:nvPr/>
        </p:nvSpPr>
        <p:spPr>
          <a:xfrm>
            <a:off x="876300" y="8191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FEATURE ENGINEERING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ECFF84-6391-40C2-B418-7840E82ED9A1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7239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Why and how the features were constructed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C9B3E0-BD91-4758-A57E-3516781AC629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The cleaned cycle-wise sensor table was transformed into features that better describe degradation dynamics.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A41374-B032-43DD-AC8F-1D7341BAA4C0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2190750" cy="200025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BE475F-937B-4F4D-BFE2-E846A62C202B}"/>
              </a:ext>
            </a:extLst>
          </p:cNvPr>
          <p:cNvSpPr>
            <a:spLocks noGrp="1"/>
          </p:cNvSpPr>
          <p:nvPr/>
        </p:nvSpPr>
        <p:spPr>
          <a:xfrm>
            <a:off x="1085850" y="3067050"/>
            <a:ext cx="361950" cy="361950"/>
          </a:xfrm>
          <a:prstGeom prst="ellipse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2903AB-AF1F-4CED-845B-37DFD37AE8CE}"/>
              </a:ext>
            </a:extLst>
          </p:cNvPr>
          <p:cNvSpPr>
            <a:spLocks noGrp="1"/>
          </p:cNvSpPr>
          <p:nvPr/>
        </p:nvSpPr>
        <p:spPr>
          <a:xfrm>
            <a:off x="1600200" y="30861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Rolling Mean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1A3F630-B2C9-458B-BD38-872837343C17}"/>
              </a:ext>
            </a:extLst>
          </p:cNvPr>
          <p:cNvSpPr>
            <a:spLocks noGrp="1"/>
          </p:cNvSpPr>
          <p:nvPr/>
        </p:nvSpPr>
        <p:spPr>
          <a:xfrm>
            <a:off x="1104900" y="3543300"/>
            <a:ext cx="17335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For each active sensor, a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5-cycle rolling mean was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computed within each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engine. This smooths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noise and highlights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local degradation trend.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E53FDCB-773D-4999-85C5-D120B4B1FA07}"/>
              </a:ext>
            </a:extLst>
          </p:cNvPr>
          <p:cNvSpPr>
            <a:spLocks noGrp="1"/>
          </p:cNvSpPr>
          <p:nvPr/>
        </p:nvSpPr>
        <p:spPr>
          <a:xfrm>
            <a:off x="3200400" y="3619500"/>
            <a:ext cx="514350" cy="323850"/>
          </a:xfrm>
          <a:prstGeom prst="rightArrow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427F03-FF52-4C5A-AD43-BFD98339C5F2}"/>
              </a:ext>
            </a:extLst>
          </p:cNvPr>
          <p:cNvSpPr>
            <a:spLocks noGrp="1"/>
          </p:cNvSpPr>
          <p:nvPr/>
        </p:nvSpPr>
        <p:spPr>
          <a:xfrm>
            <a:off x="3848100" y="2876550"/>
            <a:ext cx="2190750" cy="200025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68CF3F-C69F-47CE-8906-1FBFD0C80EBC}"/>
              </a:ext>
            </a:extLst>
          </p:cNvPr>
          <p:cNvSpPr>
            <a:spLocks noGrp="1"/>
          </p:cNvSpPr>
          <p:nvPr/>
        </p:nvSpPr>
        <p:spPr>
          <a:xfrm>
            <a:off x="4057650" y="3067050"/>
            <a:ext cx="361950" cy="361950"/>
          </a:xfrm>
          <a:prstGeom prst="ellipse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400BD8-287E-4CFA-A990-9FE421494750}"/>
              </a:ext>
            </a:extLst>
          </p:cNvPr>
          <p:cNvSpPr>
            <a:spLocks noGrp="1"/>
          </p:cNvSpPr>
          <p:nvPr/>
        </p:nvSpPr>
        <p:spPr>
          <a:xfrm>
            <a:off x="4572000" y="30861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Rolling Std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47A843-25AC-4B1D-8759-559D147E90F0}"/>
              </a:ext>
            </a:extLst>
          </p:cNvPr>
          <p:cNvSpPr>
            <a:spLocks noGrp="1"/>
          </p:cNvSpPr>
          <p:nvPr/>
        </p:nvSpPr>
        <p:spPr>
          <a:xfrm>
            <a:off x="4076700" y="3543300"/>
            <a:ext cx="17335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 5-cycle rolling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standard deviation was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also created. It captures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short-term instability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and fluctuation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intensity.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731F9F2-051B-45AA-83E1-1788EE6DB2B7}"/>
              </a:ext>
            </a:extLst>
          </p:cNvPr>
          <p:cNvSpPr>
            <a:spLocks noGrp="1"/>
          </p:cNvSpPr>
          <p:nvPr/>
        </p:nvSpPr>
        <p:spPr>
          <a:xfrm>
            <a:off x="6172200" y="3619500"/>
            <a:ext cx="514350" cy="323850"/>
          </a:xfrm>
          <a:prstGeom prst="rightArrow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79D34F1-6DB5-4C16-9CC0-33B8B6380DC0}"/>
              </a:ext>
            </a:extLst>
          </p:cNvPr>
          <p:cNvSpPr>
            <a:spLocks noGrp="1"/>
          </p:cNvSpPr>
          <p:nvPr/>
        </p:nvSpPr>
        <p:spPr>
          <a:xfrm>
            <a:off x="6819900" y="2876550"/>
            <a:ext cx="2190750" cy="2000250"/>
          </a:xfrm>
          <a:prstGeom prst="roundRect">
            <a:avLst>
              <a:gd name="adj" fmla="val 381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A48E7A6-76E5-40EF-9889-9C7DE298B07D}"/>
              </a:ext>
            </a:extLst>
          </p:cNvPr>
          <p:cNvSpPr>
            <a:spLocks noGrp="1"/>
          </p:cNvSpPr>
          <p:nvPr/>
        </p:nvSpPr>
        <p:spPr>
          <a:xfrm>
            <a:off x="7029450" y="3067050"/>
            <a:ext cx="361950" cy="361950"/>
          </a:xfrm>
          <a:prstGeom prst="ellipse">
            <a:avLst/>
          </a:prstGeom>
          <a:solidFill>
            <a:srgbClr val="E68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B064A8-5FE8-4E02-99BA-7170A21A1121}"/>
              </a:ext>
            </a:extLst>
          </p:cNvPr>
          <p:cNvSpPr>
            <a:spLocks noGrp="1"/>
          </p:cNvSpPr>
          <p:nvPr/>
        </p:nvSpPr>
        <p:spPr>
          <a:xfrm>
            <a:off x="7543800" y="3086100"/>
            <a:ext cx="1276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RUL Clipping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09287F-B535-4708-A598-186978B7DEB5}"/>
              </a:ext>
            </a:extLst>
          </p:cNvPr>
          <p:cNvSpPr>
            <a:spLocks noGrp="1"/>
          </p:cNvSpPr>
          <p:nvPr/>
        </p:nvSpPr>
        <p:spPr>
          <a:xfrm>
            <a:off x="7048500" y="3543300"/>
            <a:ext cx="173355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 target was clipped at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125 cycles. This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piecewise target reduces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 influence of very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large early-life RUL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values.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E8B2369C-2308-4E83-A7C5-F7A6D62979EE}"/>
              </a:ext>
            </a:extLst>
          </p:cNvPr>
          <p:cNvSpPr>
            <a:spLocks noGrp="1"/>
          </p:cNvSpPr>
          <p:nvPr/>
        </p:nvSpPr>
        <p:spPr>
          <a:xfrm>
            <a:off x="9144000" y="3619500"/>
            <a:ext cx="514350" cy="323850"/>
          </a:xfrm>
          <a:prstGeom prst="rightArrow">
            <a:avLst/>
          </a:prstGeom>
          <a:solidFill>
            <a:srgbClr val="E68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995CF8A-EE62-4737-9D13-6AD8F0DFFC6D}"/>
              </a:ext>
            </a:extLst>
          </p:cNvPr>
          <p:cNvSpPr>
            <a:spLocks noGrp="1"/>
          </p:cNvSpPr>
          <p:nvPr/>
        </p:nvSpPr>
        <p:spPr>
          <a:xfrm>
            <a:off x="9791700" y="2876550"/>
            <a:ext cx="1600200" cy="2000250"/>
          </a:xfrm>
          <a:prstGeom prst="roundRect">
            <a:avLst>
              <a:gd name="adj" fmla="val 4762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7B2534-4B51-4C90-9256-64183E720D0B}"/>
              </a:ext>
            </a:extLst>
          </p:cNvPr>
          <p:cNvSpPr>
            <a:spLocks noGrp="1"/>
          </p:cNvSpPr>
          <p:nvPr/>
        </p:nvSpPr>
        <p:spPr>
          <a:xfrm>
            <a:off x="10001250" y="3067050"/>
            <a:ext cx="361950" cy="361950"/>
          </a:xfrm>
          <a:prstGeom prst="ellipse">
            <a:avLst/>
          </a:prstGeom>
          <a:solidFill>
            <a:srgbClr val="0E66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81AD1D9-BC72-48E6-B659-F33189069AAB}"/>
              </a:ext>
            </a:extLst>
          </p:cNvPr>
          <p:cNvSpPr>
            <a:spLocks noGrp="1"/>
          </p:cNvSpPr>
          <p:nvPr/>
        </p:nvSpPr>
        <p:spPr>
          <a:xfrm>
            <a:off x="10515600" y="3086100"/>
            <a:ext cx="685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Scaling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725A8E-38E6-4ECF-A37A-CD2BDFF08D25}"/>
              </a:ext>
            </a:extLst>
          </p:cNvPr>
          <p:cNvSpPr>
            <a:spLocks noGrp="1"/>
          </p:cNvSpPr>
          <p:nvPr/>
        </p:nvSpPr>
        <p:spPr>
          <a:xfrm>
            <a:off x="10020300" y="3543300"/>
            <a:ext cx="11430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Min-Max scaling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put all predictors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on a comparable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range before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regression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training.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9DF9AAC-5372-4C98-ADC4-94B92E6A73DB}"/>
              </a:ext>
            </a:extLst>
          </p:cNvPr>
          <p:cNvSpPr>
            <a:spLocks noGrp="1"/>
          </p:cNvSpPr>
          <p:nvPr/>
        </p:nvSpPr>
        <p:spPr>
          <a:xfrm>
            <a:off x="876300" y="5143500"/>
            <a:ext cx="10515600" cy="742950"/>
          </a:xfrm>
          <a:prstGeom prst="roundRect">
            <a:avLst>
              <a:gd name="adj" fmla="val 10256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10A62D6-B92B-445A-8C9F-6695563985F5}"/>
              </a:ext>
            </a:extLst>
          </p:cNvPr>
          <p:cNvSpPr>
            <a:spLocks noGrp="1"/>
          </p:cNvSpPr>
          <p:nvPr/>
        </p:nvSpPr>
        <p:spPr>
          <a:xfrm>
            <a:off x="876300" y="5143500"/>
            <a:ext cx="76200" cy="74295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894DAA-E478-4DD3-B6A8-054CBEDF1C20}"/>
              </a:ext>
            </a:extLst>
          </p:cNvPr>
          <p:cNvSpPr>
            <a:spLocks noGrp="1"/>
          </p:cNvSpPr>
          <p:nvPr/>
        </p:nvSpPr>
        <p:spPr>
          <a:xfrm>
            <a:off x="1123950" y="5334000"/>
            <a:ext cx="1000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Engineering summary: 14 active sensors produced 28 rolling statistics (14 means + 14 standard deviations). The final modeling file contains 46 columns including identifiers and targets.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57D2FD1-3584-434F-AD6D-B311D86BB605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19665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val 45">
            <a:extLst>
              <a:ext uri="{FF2B5EF4-FFF2-40B4-BE49-F238E27FC236}">
                <a16:creationId xmlns:a16="http://schemas.microsoft.com/office/drawing/2014/main" id="{7C226765-A079-4EC0-9BD6-8839429073F0}"/>
              </a:ext>
            </a:extLst>
          </p:cNvPr>
          <p:cNvSpPr>
            <a:spLocks noGrp="1"/>
          </p:cNvSpPr>
          <p:nvPr/>
        </p:nvSpPr>
        <p:spPr>
          <a:xfrm>
            <a:off x="7829550" y="-590550"/>
            <a:ext cx="3619500" cy="3619500"/>
          </a:xfrm>
          <a:prstGeom prst="ellipse">
            <a:avLst/>
          </a:prstGeom>
          <a:solidFill>
            <a:srgbClr val="DCEF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F65C11-83FB-4846-960C-239C4A5F3E21}"/>
              </a:ext>
            </a:extLst>
          </p:cNvPr>
          <p:cNvSpPr>
            <a:spLocks noGrp="1"/>
          </p:cNvSpPr>
          <p:nvPr/>
        </p:nvSpPr>
        <p:spPr>
          <a:xfrm>
            <a:off x="9067800" y="895350"/>
            <a:ext cx="2095500" cy="2095500"/>
          </a:xfrm>
          <a:prstGeom prst="ellipse">
            <a:avLst/>
          </a:prstGeom>
          <a:solidFill>
            <a:srgbClr val="1FA37A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D8842BD-D1BA-4A01-9EAC-725CF43C0925}"/>
              </a:ext>
            </a:extLst>
          </p:cNvPr>
          <p:cNvSpPr>
            <a:spLocks noGrp="1"/>
          </p:cNvSpPr>
          <p:nvPr/>
        </p:nvSpPr>
        <p:spPr>
          <a:xfrm>
            <a:off x="-457200" y="4381500"/>
            <a:ext cx="3048000" cy="3048000"/>
          </a:xfrm>
          <a:prstGeom prst="ellipse">
            <a:avLst/>
          </a:prstGeom>
          <a:solidFill>
            <a:srgbClr val="F3E2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3BAB2D9-A994-4689-8FF3-F5865FA5F9C3}"/>
              </a:ext>
            </a:extLst>
          </p:cNvPr>
          <p:cNvSpPr>
            <a:spLocks noGrp="1"/>
          </p:cNvSpPr>
          <p:nvPr/>
        </p:nvSpPr>
        <p:spPr>
          <a:xfrm>
            <a:off x="381000" y="5124450"/>
            <a:ext cx="1428750" cy="1428750"/>
          </a:xfrm>
          <a:prstGeom prst="ellipse">
            <a:avLst/>
          </a:prstGeom>
          <a:solidFill>
            <a:srgbClr val="E68053">
              <a:alpha val="1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3EE545-649C-45ED-8A1F-D08929D53F56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4C2313-1094-4B20-821A-10B4AEB91EF4}"/>
              </a:ext>
            </a:extLst>
          </p:cNvPr>
          <p:cNvSpPr>
            <a:spLocks noGrp="1"/>
          </p:cNvSpPr>
          <p:nvPr/>
        </p:nvSpPr>
        <p:spPr>
          <a:xfrm>
            <a:off x="590550" y="626745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9B4134-4E09-4012-9CBA-D21C4206D033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970C90-8157-44E6-A5AC-6E2E76587CEA}"/>
              </a:ext>
            </a:extLst>
          </p:cNvPr>
          <p:cNvSpPr>
            <a:spLocks noGrp="1"/>
          </p:cNvSpPr>
          <p:nvPr/>
        </p:nvSpPr>
        <p:spPr>
          <a:xfrm>
            <a:off x="1158240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650B9B-C2F8-49A2-A9B4-A1FC38B7E857}"/>
              </a:ext>
            </a:extLst>
          </p:cNvPr>
          <p:cNvSpPr>
            <a:spLocks noGrp="1"/>
          </p:cNvSpPr>
          <p:nvPr/>
        </p:nvSpPr>
        <p:spPr>
          <a:xfrm>
            <a:off x="10363200" y="8191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06 / 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57E49B-7A3D-4CD9-85FD-0E24CAA989D0}"/>
              </a:ext>
            </a:extLst>
          </p:cNvPr>
          <p:cNvSpPr>
            <a:spLocks noGrp="1"/>
          </p:cNvSpPr>
          <p:nvPr/>
        </p:nvSpPr>
        <p:spPr>
          <a:xfrm>
            <a:off x="876300" y="8191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MODELING WORKFLOW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6933B3-90B6-4EA3-ACAC-626406EF56DF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7239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How the prepared data was turned into a regression task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F9FA15-005A-4C6A-B392-39AC486212EC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The pipeline preserves engine chronology and avoids leakage between training and validation engines.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B9F2CE1-541B-40AF-A7A4-3AD4C995B3D8}"/>
              </a:ext>
            </a:extLst>
          </p:cNvPr>
          <p:cNvSpPr>
            <a:spLocks noGrp="1"/>
          </p:cNvSpPr>
          <p:nvPr/>
        </p:nvSpPr>
        <p:spPr>
          <a:xfrm>
            <a:off x="876300" y="2971800"/>
            <a:ext cx="1676400" cy="1524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4679E6-00BD-4249-8AA4-94ACADA9DBBD}"/>
              </a:ext>
            </a:extLst>
          </p:cNvPr>
          <p:cNvSpPr>
            <a:spLocks noGrp="1"/>
          </p:cNvSpPr>
          <p:nvPr/>
        </p:nvSpPr>
        <p:spPr>
          <a:xfrm>
            <a:off x="1085850" y="3162300"/>
            <a:ext cx="361950" cy="361950"/>
          </a:xfrm>
          <a:prstGeom prst="ellipse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76749D-3AF0-4A24-B746-850D036F07E5}"/>
              </a:ext>
            </a:extLst>
          </p:cNvPr>
          <p:cNvSpPr>
            <a:spLocks noGrp="1"/>
          </p:cNvSpPr>
          <p:nvPr/>
        </p:nvSpPr>
        <p:spPr>
          <a:xfrm>
            <a:off x="1600200" y="3181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Raw FD001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EF6CE4-CE6B-4A99-8272-A0E565C799EA}"/>
              </a:ext>
            </a:extLst>
          </p:cNvPr>
          <p:cNvSpPr>
            <a:spLocks noGrp="1"/>
          </p:cNvSpPr>
          <p:nvPr/>
        </p:nvSpPr>
        <p:spPr>
          <a:xfrm>
            <a:off x="1104900" y="3638550"/>
            <a:ext cx="1219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 cycle data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with settings and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sensors.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D8BE628B-C9A2-4513-A69F-042FE419D0A8}"/>
              </a:ext>
            </a:extLst>
          </p:cNvPr>
          <p:cNvSpPr>
            <a:spLocks noGrp="1"/>
          </p:cNvSpPr>
          <p:nvPr/>
        </p:nvSpPr>
        <p:spPr>
          <a:xfrm>
            <a:off x="2647950" y="3543300"/>
            <a:ext cx="285750" cy="266700"/>
          </a:xfrm>
          <a:prstGeom prst="rightArrow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473FE43-28D1-4D5E-8148-511EFB120584}"/>
              </a:ext>
            </a:extLst>
          </p:cNvPr>
          <p:cNvSpPr>
            <a:spLocks noGrp="1"/>
          </p:cNvSpPr>
          <p:nvPr/>
        </p:nvSpPr>
        <p:spPr>
          <a:xfrm>
            <a:off x="3086100" y="2971800"/>
            <a:ext cx="1676400" cy="1524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C68B952-65FC-4B49-A47D-34F672AF5296}"/>
              </a:ext>
            </a:extLst>
          </p:cNvPr>
          <p:cNvSpPr>
            <a:spLocks noGrp="1"/>
          </p:cNvSpPr>
          <p:nvPr/>
        </p:nvSpPr>
        <p:spPr>
          <a:xfrm>
            <a:off x="3295650" y="3162300"/>
            <a:ext cx="361950" cy="361950"/>
          </a:xfrm>
          <a:prstGeom prst="ellipse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A102326-31EE-4885-B832-F950E714CA52}"/>
              </a:ext>
            </a:extLst>
          </p:cNvPr>
          <p:cNvSpPr>
            <a:spLocks noGrp="1"/>
          </p:cNvSpPr>
          <p:nvPr/>
        </p:nvSpPr>
        <p:spPr>
          <a:xfrm>
            <a:off x="3810000" y="3181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Add RUL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0475FB-C310-458E-B3A1-83C895EC203C}"/>
              </a:ext>
            </a:extLst>
          </p:cNvPr>
          <p:cNvSpPr>
            <a:spLocks noGrp="1"/>
          </p:cNvSpPr>
          <p:nvPr/>
        </p:nvSpPr>
        <p:spPr>
          <a:xfrm>
            <a:off x="3314700" y="3638550"/>
            <a:ext cx="1219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RUL = max cycle per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 minus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current cycle.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CB62773-571F-4070-8E0F-F54645366B4D}"/>
              </a:ext>
            </a:extLst>
          </p:cNvPr>
          <p:cNvSpPr>
            <a:spLocks noGrp="1"/>
          </p:cNvSpPr>
          <p:nvPr/>
        </p:nvSpPr>
        <p:spPr>
          <a:xfrm>
            <a:off x="4857750" y="3543300"/>
            <a:ext cx="285750" cy="266700"/>
          </a:xfrm>
          <a:prstGeom prst="rightArrow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BF5F7C5-82E4-42D5-9052-C39D3B6E1C62}"/>
              </a:ext>
            </a:extLst>
          </p:cNvPr>
          <p:cNvSpPr>
            <a:spLocks noGrp="1"/>
          </p:cNvSpPr>
          <p:nvPr/>
        </p:nvSpPr>
        <p:spPr>
          <a:xfrm>
            <a:off x="5295900" y="2971800"/>
            <a:ext cx="1676400" cy="1524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CB5DB4F-39AE-4454-9A01-A7EC3E724C04}"/>
              </a:ext>
            </a:extLst>
          </p:cNvPr>
          <p:cNvSpPr>
            <a:spLocks noGrp="1"/>
          </p:cNvSpPr>
          <p:nvPr/>
        </p:nvSpPr>
        <p:spPr>
          <a:xfrm>
            <a:off x="5505450" y="3162300"/>
            <a:ext cx="361950" cy="361950"/>
          </a:xfrm>
          <a:prstGeom prst="ellipse">
            <a:avLst/>
          </a:prstGeom>
          <a:solidFill>
            <a:srgbClr val="E68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DAAE81-A32C-441E-AC66-830F5427927B}"/>
              </a:ext>
            </a:extLst>
          </p:cNvPr>
          <p:cNvSpPr>
            <a:spLocks noGrp="1"/>
          </p:cNvSpPr>
          <p:nvPr/>
        </p:nvSpPr>
        <p:spPr>
          <a:xfrm>
            <a:off x="6019800" y="3181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Clean Columns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B6BB13-C280-4A47-BE10-FC75FF6F75FC}"/>
              </a:ext>
            </a:extLst>
          </p:cNvPr>
          <p:cNvSpPr>
            <a:spLocks noGrp="1"/>
          </p:cNvSpPr>
          <p:nvPr/>
        </p:nvSpPr>
        <p:spPr>
          <a:xfrm>
            <a:off x="5524500" y="3638550"/>
            <a:ext cx="1219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Drop near-flat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settings and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sensors.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ABF7F0A9-7981-41A6-BF3D-181C1F7C2CE1}"/>
              </a:ext>
            </a:extLst>
          </p:cNvPr>
          <p:cNvSpPr>
            <a:spLocks noGrp="1"/>
          </p:cNvSpPr>
          <p:nvPr/>
        </p:nvSpPr>
        <p:spPr>
          <a:xfrm>
            <a:off x="7067550" y="3543300"/>
            <a:ext cx="285750" cy="266700"/>
          </a:xfrm>
          <a:prstGeom prst="rightArrow">
            <a:avLst/>
          </a:prstGeom>
          <a:solidFill>
            <a:srgbClr val="E68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AFAEED1-3F76-4C72-A50A-D695C50043F1}"/>
              </a:ext>
            </a:extLst>
          </p:cNvPr>
          <p:cNvSpPr>
            <a:spLocks noGrp="1"/>
          </p:cNvSpPr>
          <p:nvPr/>
        </p:nvSpPr>
        <p:spPr>
          <a:xfrm>
            <a:off x="7505700" y="2971800"/>
            <a:ext cx="1676400" cy="1524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4291C2-7F6F-40AF-8045-09CDA21C6982}"/>
              </a:ext>
            </a:extLst>
          </p:cNvPr>
          <p:cNvSpPr>
            <a:spLocks noGrp="1"/>
          </p:cNvSpPr>
          <p:nvPr/>
        </p:nvSpPr>
        <p:spPr>
          <a:xfrm>
            <a:off x="7715250" y="3162300"/>
            <a:ext cx="361950" cy="361950"/>
          </a:xfrm>
          <a:prstGeom prst="ellipse">
            <a:avLst/>
          </a:prstGeom>
          <a:solidFill>
            <a:srgbClr val="0E66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B0AF9D-5BF5-4455-907F-B465C0AEFF65}"/>
              </a:ext>
            </a:extLst>
          </p:cNvPr>
          <p:cNvSpPr>
            <a:spLocks noGrp="1"/>
          </p:cNvSpPr>
          <p:nvPr/>
        </p:nvSpPr>
        <p:spPr>
          <a:xfrm>
            <a:off x="8229600" y="3181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Engineer Features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C18481-8CB5-42A0-90C6-0CE25F146B05}"/>
              </a:ext>
            </a:extLst>
          </p:cNvPr>
          <p:cNvSpPr>
            <a:spLocks noGrp="1"/>
          </p:cNvSpPr>
          <p:nvPr/>
        </p:nvSpPr>
        <p:spPr>
          <a:xfrm>
            <a:off x="7734300" y="3638550"/>
            <a:ext cx="1219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Rolling mean,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rolling std,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clipping, and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scaling.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331AC74-31A2-442D-B3BA-9D0F4443DCB4}"/>
              </a:ext>
            </a:extLst>
          </p:cNvPr>
          <p:cNvSpPr>
            <a:spLocks noGrp="1"/>
          </p:cNvSpPr>
          <p:nvPr/>
        </p:nvSpPr>
        <p:spPr>
          <a:xfrm>
            <a:off x="9277350" y="3543300"/>
            <a:ext cx="285750" cy="266700"/>
          </a:xfrm>
          <a:prstGeom prst="rightArrow">
            <a:avLst/>
          </a:prstGeom>
          <a:solidFill>
            <a:srgbClr val="0E66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C3A9F0A-EB82-4D23-B058-6B5FBFA3DDDF}"/>
              </a:ext>
            </a:extLst>
          </p:cNvPr>
          <p:cNvSpPr>
            <a:spLocks noGrp="1"/>
          </p:cNvSpPr>
          <p:nvPr/>
        </p:nvSpPr>
        <p:spPr>
          <a:xfrm>
            <a:off x="9715500" y="2971800"/>
            <a:ext cx="1676400" cy="1524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FC26D3D-332B-46B6-8795-FD7AB0ADD849}"/>
              </a:ext>
            </a:extLst>
          </p:cNvPr>
          <p:cNvSpPr>
            <a:spLocks noGrp="1"/>
          </p:cNvSpPr>
          <p:nvPr/>
        </p:nvSpPr>
        <p:spPr>
          <a:xfrm>
            <a:off x="9925050" y="3162300"/>
            <a:ext cx="361950" cy="361950"/>
          </a:xfrm>
          <a:prstGeom prst="ellipse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09461E1-6311-430A-9F4C-E9221EBBB184}"/>
              </a:ext>
            </a:extLst>
          </p:cNvPr>
          <p:cNvSpPr>
            <a:spLocks noGrp="1"/>
          </p:cNvSpPr>
          <p:nvPr/>
        </p:nvSpPr>
        <p:spPr>
          <a:xfrm>
            <a:off x="10439400" y="31813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0E6651"/>
                </a:solidFill>
              </a:defRPr>
            </a:pPr>
            <a:r>
              <a:rPr sz="112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Fit Models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7058AB-14B6-43FD-9BBA-A80F0FA515DC}"/>
              </a:ext>
            </a:extLst>
          </p:cNvPr>
          <p:cNvSpPr>
            <a:spLocks noGrp="1"/>
          </p:cNvSpPr>
          <p:nvPr/>
        </p:nvSpPr>
        <p:spPr>
          <a:xfrm>
            <a:off x="9944100" y="3638550"/>
            <a:ext cx="12192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Train the three</a:t>
            </a:r>
          </a:p>
          <a:p>
            <a:pPr algn="l">
              <a:defRPr sz="975" b="0">
                <a:solidFill>
                  <a:srgbClr val="14212B"/>
                </a:solidFill>
              </a:defRPr>
            </a:pPr>
            <a:r>
              <a:rPr sz="975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regression models.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9CE4608-13E9-4DEF-B33C-0BB086DD03BA}"/>
              </a:ext>
            </a:extLst>
          </p:cNvPr>
          <p:cNvSpPr>
            <a:spLocks noGrp="1"/>
          </p:cNvSpPr>
          <p:nvPr/>
        </p:nvSpPr>
        <p:spPr>
          <a:xfrm>
            <a:off x="876300" y="4552950"/>
            <a:ext cx="4857750" cy="1333500"/>
          </a:xfrm>
          <a:prstGeom prst="roundRect">
            <a:avLst>
              <a:gd name="adj" fmla="val 5714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AB76729-DA8C-472E-A650-025C22806513}"/>
              </a:ext>
            </a:extLst>
          </p:cNvPr>
          <p:cNvSpPr>
            <a:spLocks noGrp="1"/>
          </p:cNvSpPr>
          <p:nvPr/>
        </p:nvSpPr>
        <p:spPr>
          <a:xfrm>
            <a:off x="876300" y="4552950"/>
            <a:ext cx="76200" cy="13335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1E017F2-E0A0-4CAD-9444-AEBE0F7564EF}"/>
              </a:ext>
            </a:extLst>
          </p:cNvPr>
          <p:cNvSpPr>
            <a:spLocks noGrp="1"/>
          </p:cNvSpPr>
          <p:nvPr/>
        </p:nvSpPr>
        <p:spPr>
          <a:xfrm>
            <a:off x="1143000" y="4762500"/>
            <a:ext cx="447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Train / validation split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0840D6-C6F8-403B-92E4-666C17E0A70A}"/>
              </a:ext>
            </a:extLst>
          </p:cNvPr>
          <p:cNvSpPr>
            <a:spLocks noGrp="1"/>
          </p:cNvSpPr>
          <p:nvPr/>
        </p:nvSpPr>
        <p:spPr>
          <a:xfrm>
            <a:off x="1143000" y="5067300"/>
            <a:ext cx="4400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Engines 1-80 were used for training and engines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81-100 for validation. Splitting by engine avoids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leaking later cycles of the same engine across both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sets.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41F5144-2A4E-4141-9D01-FEC54EC2A7A1}"/>
              </a:ext>
            </a:extLst>
          </p:cNvPr>
          <p:cNvSpPr>
            <a:spLocks noGrp="1"/>
          </p:cNvSpPr>
          <p:nvPr/>
        </p:nvSpPr>
        <p:spPr>
          <a:xfrm>
            <a:off x="5943600" y="4552950"/>
            <a:ext cx="5448300" cy="1333500"/>
          </a:xfrm>
          <a:prstGeom prst="roundRect">
            <a:avLst>
              <a:gd name="adj" fmla="val 5714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E5F0FB1-C95B-4471-9559-B4EF767C675B}"/>
              </a:ext>
            </a:extLst>
          </p:cNvPr>
          <p:cNvSpPr>
            <a:spLocks noGrp="1"/>
          </p:cNvSpPr>
          <p:nvPr/>
        </p:nvSpPr>
        <p:spPr>
          <a:xfrm>
            <a:off x="5943600" y="4552950"/>
            <a:ext cx="76200" cy="1333500"/>
          </a:xfrm>
          <a:prstGeom prst="rect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E0FCA31-5710-4714-944A-3157CD2E865B}"/>
              </a:ext>
            </a:extLst>
          </p:cNvPr>
          <p:cNvSpPr>
            <a:spLocks noGrp="1"/>
          </p:cNvSpPr>
          <p:nvPr/>
        </p:nvSpPr>
        <p:spPr>
          <a:xfrm>
            <a:off x="6210300" y="4762500"/>
            <a:ext cx="506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Feature-target definition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2A5EF95-43D5-41A4-9842-CA9AADCE68E8}"/>
              </a:ext>
            </a:extLst>
          </p:cNvPr>
          <p:cNvSpPr>
            <a:spLocks noGrp="1"/>
          </p:cNvSpPr>
          <p:nvPr/>
        </p:nvSpPr>
        <p:spPr>
          <a:xfrm>
            <a:off x="6210300" y="5067300"/>
            <a:ext cx="4991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X contains engineered predictors only. unit_nr,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time_cycles, RUL, and RUL_clipped were excluded from X,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while y was defined as RUL_clipped.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EF9B157-07B3-4873-A99A-CEFD3A6DF8EB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876886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28">
            <a:extLst>
              <a:ext uri="{FF2B5EF4-FFF2-40B4-BE49-F238E27FC236}">
                <a16:creationId xmlns:a16="http://schemas.microsoft.com/office/drawing/2014/main" id="{44CDAEA0-E162-485A-924C-A44EAE19DE58}"/>
              </a:ext>
            </a:extLst>
          </p:cNvPr>
          <p:cNvSpPr>
            <a:spLocks noGrp="1"/>
          </p:cNvSpPr>
          <p:nvPr/>
        </p:nvSpPr>
        <p:spPr>
          <a:xfrm>
            <a:off x="7658100" y="-514350"/>
            <a:ext cx="3619500" cy="3619500"/>
          </a:xfrm>
          <a:prstGeom prst="ellipse">
            <a:avLst/>
          </a:prstGeom>
          <a:solidFill>
            <a:srgbClr val="DCEF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514F948-EC6B-40C4-89CC-18C27830E255}"/>
              </a:ext>
            </a:extLst>
          </p:cNvPr>
          <p:cNvSpPr>
            <a:spLocks noGrp="1"/>
          </p:cNvSpPr>
          <p:nvPr/>
        </p:nvSpPr>
        <p:spPr>
          <a:xfrm>
            <a:off x="8991600" y="1028700"/>
            <a:ext cx="2095500" cy="2095500"/>
          </a:xfrm>
          <a:prstGeom prst="ellipse">
            <a:avLst/>
          </a:prstGeom>
          <a:solidFill>
            <a:srgbClr val="1FA37A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8CC9766-6DE0-4B72-AAEC-B50993E7DC89}"/>
              </a:ext>
            </a:extLst>
          </p:cNvPr>
          <p:cNvSpPr>
            <a:spLocks noGrp="1"/>
          </p:cNvSpPr>
          <p:nvPr/>
        </p:nvSpPr>
        <p:spPr>
          <a:xfrm>
            <a:off x="-342900" y="4286250"/>
            <a:ext cx="3048000" cy="3048000"/>
          </a:xfrm>
          <a:prstGeom prst="ellipse">
            <a:avLst/>
          </a:prstGeom>
          <a:solidFill>
            <a:srgbClr val="F3E2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AF65A4A-56BF-4882-80AC-DA14CD37C3AF}"/>
              </a:ext>
            </a:extLst>
          </p:cNvPr>
          <p:cNvSpPr>
            <a:spLocks noGrp="1"/>
          </p:cNvSpPr>
          <p:nvPr/>
        </p:nvSpPr>
        <p:spPr>
          <a:xfrm>
            <a:off x="476250" y="5067300"/>
            <a:ext cx="1428750" cy="1428750"/>
          </a:xfrm>
          <a:prstGeom prst="ellipse">
            <a:avLst/>
          </a:prstGeom>
          <a:solidFill>
            <a:srgbClr val="E68053">
              <a:alpha val="1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6527A5-A88C-4635-AE11-75A60ADA67E0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4C48F-FABE-4CFB-8F28-4E0AF3869D93}"/>
              </a:ext>
            </a:extLst>
          </p:cNvPr>
          <p:cNvSpPr>
            <a:spLocks noGrp="1"/>
          </p:cNvSpPr>
          <p:nvPr/>
        </p:nvSpPr>
        <p:spPr>
          <a:xfrm>
            <a:off x="590550" y="626745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096DB4-719B-40FD-951F-09E60E207F68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6B78D9-3330-4629-A369-F2CE2DB9B5C7}"/>
              </a:ext>
            </a:extLst>
          </p:cNvPr>
          <p:cNvSpPr>
            <a:spLocks noGrp="1"/>
          </p:cNvSpPr>
          <p:nvPr/>
        </p:nvSpPr>
        <p:spPr>
          <a:xfrm>
            <a:off x="1158240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43134E-6293-4368-8A0B-23BB14D9CC34}"/>
              </a:ext>
            </a:extLst>
          </p:cNvPr>
          <p:cNvSpPr>
            <a:spLocks noGrp="1"/>
          </p:cNvSpPr>
          <p:nvPr/>
        </p:nvSpPr>
        <p:spPr>
          <a:xfrm>
            <a:off x="10363200" y="8191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07 / 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99B9E8-F0DD-4CFB-81BA-4F6DBDD74CCA}"/>
              </a:ext>
            </a:extLst>
          </p:cNvPr>
          <p:cNvSpPr>
            <a:spLocks noGrp="1"/>
          </p:cNvSpPr>
          <p:nvPr/>
        </p:nvSpPr>
        <p:spPr>
          <a:xfrm>
            <a:off x="876300" y="8191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REGRESSION MODELS COMPARED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3AACAB-91FE-4B69-8586-152B05CFDD8F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7239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Only three models were evaluated for the final comparison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50E687-44FC-41F1-80B9-23717FCBBC4C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All three models share the same feature set and validation split so their metrics remain directly comparable.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70C3BF4-0E69-489D-BCF3-F307B71353C7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3181350" cy="2171700"/>
          </a:xfrm>
          <a:prstGeom prst="roundRect">
            <a:avLst>
              <a:gd name="adj" fmla="val 3509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CABD15-32A2-4A34-8936-F8E5C21DAFC2}"/>
              </a:ext>
            </a:extLst>
          </p:cNvPr>
          <p:cNvSpPr>
            <a:spLocks noGrp="1"/>
          </p:cNvSpPr>
          <p:nvPr/>
        </p:nvSpPr>
        <p:spPr>
          <a:xfrm>
            <a:off x="876300" y="2895600"/>
            <a:ext cx="76200" cy="21717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72CE7C-4D31-4754-8011-5917678A9240}"/>
              </a:ext>
            </a:extLst>
          </p:cNvPr>
          <p:cNvSpPr>
            <a:spLocks noGrp="1"/>
          </p:cNvSpPr>
          <p:nvPr/>
        </p:nvSpPr>
        <p:spPr>
          <a:xfrm>
            <a:off x="1143000" y="3105150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Linear Regression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5BC10E-D26A-4EF8-BFF0-6B44D37586AA}"/>
              </a:ext>
            </a:extLst>
          </p:cNvPr>
          <p:cNvSpPr>
            <a:spLocks noGrp="1"/>
          </p:cNvSpPr>
          <p:nvPr/>
        </p:nvSpPr>
        <p:spPr>
          <a:xfrm>
            <a:off x="1143000" y="3409950"/>
            <a:ext cx="272415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Acts as the baseline model. It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estimates one weight per feature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and shows how much predictive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power is already present in the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engineered linear relationships.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DA22D5-2691-4777-9B42-01AC24157C75}"/>
              </a:ext>
            </a:extLst>
          </p:cNvPr>
          <p:cNvSpPr>
            <a:spLocks noGrp="1"/>
          </p:cNvSpPr>
          <p:nvPr/>
        </p:nvSpPr>
        <p:spPr>
          <a:xfrm>
            <a:off x="4495800" y="2895600"/>
            <a:ext cx="3181350" cy="2171700"/>
          </a:xfrm>
          <a:prstGeom prst="roundRect">
            <a:avLst>
              <a:gd name="adj" fmla="val 3509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10E111-2652-4EF6-B85F-78C7DED16248}"/>
              </a:ext>
            </a:extLst>
          </p:cNvPr>
          <p:cNvSpPr>
            <a:spLocks noGrp="1"/>
          </p:cNvSpPr>
          <p:nvPr/>
        </p:nvSpPr>
        <p:spPr>
          <a:xfrm>
            <a:off x="4495800" y="2895600"/>
            <a:ext cx="76200" cy="2171700"/>
          </a:xfrm>
          <a:prstGeom prst="rect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011D58-A14C-4259-B5E4-C4B48B9344CF}"/>
              </a:ext>
            </a:extLst>
          </p:cNvPr>
          <p:cNvSpPr>
            <a:spLocks noGrp="1"/>
          </p:cNvSpPr>
          <p:nvPr/>
        </p:nvSpPr>
        <p:spPr>
          <a:xfrm>
            <a:off x="4762500" y="3105150"/>
            <a:ext cx="2800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Lasso Regression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8987B5-50E3-4F21-BB81-129621272422}"/>
              </a:ext>
            </a:extLst>
          </p:cNvPr>
          <p:cNvSpPr>
            <a:spLocks noGrp="1"/>
          </p:cNvSpPr>
          <p:nvPr/>
        </p:nvSpPr>
        <p:spPr>
          <a:xfrm>
            <a:off x="4762500" y="3409950"/>
            <a:ext cx="272415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Adds L1 regularization. It can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shrink weak coefficients to zero,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which is useful when many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engineered features may be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redundant or only weakly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informative.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67153D2-AD1C-49B4-98D4-E8B22AA60E59}"/>
              </a:ext>
            </a:extLst>
          </p:cNvPr>
          <p:cNvSpPr>
            <a:spLocks noGrp="1"/>
          </p:cNvSpPr>
          <p:nvPr/>
        </p:nvSpPr>
        <p:spPr>
          <a:xfrm>
            <a:off x="8115300" y="2895600"/>
            <a:ext cx="3276600" cy="2171700"/>
          </a:xfrm>
          <a:prstGeom prst="roundRect">
            <a:avLst>
              <a:gd name="adj" fmla="val 3509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459EE1-7D46-4687-8098-11AD7DC9C5A7}"/>
              </a:ext>
            </a:extLst>
          </p:cNvPr>
          <p:cNvSpPr>
            <a:spLocks noGrp="1"/>
          </p:cNvSpPr>
          <p:nvPr/>
        </p:nvSpPr>
        <p:spPr>
          <a:xfrm>
            <a:off x="8115300" y="2895600"/>
            <a:ext cx="76200" cy="2171700"/>
          </a:xfrm>
          <a:prstGeom prst="rect">
            <a:avLst/>
          </a:prstGeom>
          <a:solidFill>
            <a:srgbClr val="E6805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D6D1A-F726-416B-9D74-40DA505D5EE1}"/>
              </a:ext>
            </a:extLst>
          </p:cNvPr>
          <p:cNvSpPr>
            <a:spLocks noGrp="1"/>
          </p:cNvSpPr>
          <p:nvPr/>
        </p:nvSpPr>
        <p:spPr>
          <a:xfrm>
            <a:off x="8382000" y="3105150"/>
            <a:ext cx="2895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Ridge Regression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0C0E3E-E3E6-48A2-A03F-B219030A64CB}"/>
              </a:ext>
            </a:extLst>
          </p:cNvPr>
          <p:cNvSpPr>
            <a:spLocks noGrp="1"/>
          </p:cNvSpPr>
          <p:nvPr/>
        </p:nvSpPr>
        <p:spPr>
          <a:xfrm>
            <a:off x="8382000" y="3409950"/>
            <a:ext cx="2819400" cy="1485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Adds L2 regularization. It keeps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all features but stabilizes the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coefficients when correlated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sensor trends exist in the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engineered dataset.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4D855E7-BB92-498B-811F-6FE0E6092E48}"/>
              </a:ext>
            </a:extLst>
          </p:cNvPr>
          <p:cNvSpPr>
            <a:spLocks noGrp="1"/>
          </p:cNvSpPr>
          <p:nvPr/>
        </p:nvSpPr>
        <p:spPr>
          <a:xfrm>
            <a:off x="876300" y="5276850"/>
            <a:ext cx="10515600" cy="609600"/>
          </a:xfrm>
          <a:prstGeom prst="roundRect">
            <a:avLst>
              <a:gd name="adj" fmla="val 12500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C2ADA9-64B5-4FAB-B960-CC7B61C6B468}"/>
              </a:ext>
            </a:extLst>
          </p:cNvPr>
          <p:cNvSpPr>
            <a:spLocks noGrp="1"/>
          </p:cNvSpPr>
          <p:nvPr/>
        </p:nvSpPr>
        <p:spPr>
          <a:xfrm>
            <a:off x="876300" y="5276850"/>
            <a:ext cx="76200" cy="6096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B7C112-3AD7-4C76-8AAE-19528E133C5F}"/>
              </a:ext>
            </a:extLst>
          </p:cNvPr>
          <p:cNvSpPr>
            <a:spLocks noGrp="1"/>
          </p:cNvSpPr>
          <p:nvPr/>
        </p:nvSpPr>
        <p:spPr>
          <a:xfrm>
            <a:off x="1143000" y="5476875"/>
            <a:ext cx="10001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Evaluation metrics: RMSE measures large errors strongly, MAE measures average absolute error directly, and R² measures how much target variance is explained by the model.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6F5301E-19FE-462D-B1FC-6E78D789090C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NASA C-MAPSS FD001 and project notebooks</a:t>
            </a:r>
          </a:p>
        </p:txBody>
      </p:sp>
    </p:spTree>
    <p:extLst>
      <p:ext uri="{BB962C8B-B14F-4D97-AF65-F5344CB8AC3E}">
        <p14:creationId xmlns:p14="http://schemas.microsoft.com/office/powerpoint/2010/main" val="1771682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Oval 47">
            <a:extLst>
              <a:ext uri="{FF2B5EF4-FFF2-40B4-BE49-F238E27FC236}">
                <a16:creationId xmlns:a16="http://schemas.microsoft.com/office/drawing/2014/main" id="{2677A9E6-E755-48C0-A7C1-96EB0BBAFA10}"/>
              </a:ext>
            </a:extLst>
          </p:cNvPr>
          <p:cNvSpPr>
            <a:spLocks noGrp="1"/>
          </p:cNvSpPr>
          <p:nvPr/>
        </p:nvSpPr>
        <p:spPr>
          <a:xfrm>
            <a:off x="7486650" y="-438150"/>
            <a:ext cx="3619500" cy="3619500"/>
          </a:xfrm>
          <a:prstGeom prst="ellipse">
            <a:avLst/>
          </a:prstGeom>
          <a:solidFill>
            <a:srgbClr val="DCEF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FFC0A3F-E40F-4FC7-A26A-E88DE14DA84A}"/>
              </a:ext>
            </a:extLst>
          </p:cNvPr>
          <p:cNvSpPr>
            <a:spLocks noGrp="1"/>
          </p:cNvSpPr>
          <p:nvPr/>
        </p:nvSpPr>
        <p:spPr>
          <a:xfrm>
            <a:off x="8915400" y="1162050"/>
            <a:ext cx="2095500" cy="2095500"/>
          </a:xfrm>
          <a:prstGeom prst="ellipse">
            <a:avLst/>
          </a:prstGeom>
          <a:solidFill>
            <a:srgbClr val="1FA37A">
              <a:alpha val="14902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06F08B8-8A36-4BB4-A316-77413DD2A6A6}"/>
              </a:ext>
            </a:extLst>
          </p:cNvPr>
          <p:cNvSpPr>
            <a:spLocks noGrp="1"/>
          </p:cNvSpPr>
          <p:nvPr/>
        </p:nvSpPr>
        <p:spPr>
          <a:xfrm>
            <a:off x="-228600" y="4191000"/>
            <a:ext cx="3048000" cy="3048000"/>
          </a:xfrm>
          <a:prstGeom prst="ellipse">
            <a:avLst/>
          </a:prstGeom>
          <a:solidFill>
            <a:srgbClr val="F3E2C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109C989-F834-413F-8F03-DE673F003855}"/>
              </a:ext>
            </a:extLst>
          </p:cNvPr>
          <p:cNvSpPr>
            <a:spLocks noGrp="1"/>
          </p:cNvSpPr>
          <p:nvPr/>
        </p:nvSpPr>
        <p:spPr>
          <a:xfrm>
            <a:off x="571500" y="5010150"/>
            <a:ext cx="1428750" cy="1428750"/>
          </a:xfrm>
          <a:prstGeom prst="ellipse">
            <a:avLst/>
          </a:prstGeom>
          <a:solidFill>
            <a:srgbClr val="E68053">
              <a:alpha val="1686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D58A9-B2F2-4A1B-96A5-3F34936F1284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D9A05A-317E-477E-ACEF-069C4669B2FF}"/>
              </a:ext>
            </a:extLst>
          </p:cNvPr>
          <p:cNvSpPr>
            <a:spLocks noGrp="1"/>
          </p:cNvSpPr>
          <p:nvPr/>
        </p:nvSpPr>
        <p:spPr>
          <a:xfrm>
            <a:off x="590550" y="6267450"/>
            <a:ext cx="11010900" cy="14288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449174-8952-41B2-B33D-7412DBAA258A}"/>
              </a:ext>
            </a:extLst>
          </p:cNvPr>
          <p:cNvSpPr>
            <a:spLocks noGrp="1"/>
          </p:cNvSpPr>
          <p:nvPr/>
        </p:nvSpPr>
        <p:spPr>
          <a:xfrm>
            <a:off x="59055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F96247-0F9C-4E2E-B6BC-B8407EDCE0B3}"/>
              </a:ext>
            </a:extLst>
          </p:cNvPr>
          <p:cNvSpPr>
            <a:spLocks noGrp="1"/>
          </p:cNvSpPr>
          <p:nvPr/>
        </p:nvSpPr>
        <p:spPr>
          <a:xfrm>
            <a:off x="11582400" y="571500"/>
            <a:ext cx="14288" cy="5695950"/>
          </a:xfrm>
          <a:prstGeom prst="rect">
            <a:avLst/>
          </a:prstGeom>
          <a:solidFill>
            <a:srgbClr val="1C2C35">
              <a:alpha val="6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FC9DAE-937A-459B-89DA-3C45055A9A9C}"/>
              </a:ext>
            </a:extLst>
          </p:cNvPr>
          <p:cNvSpPr>
            <a:spLocks noGrp="1"/>
          </p:cNvSpPr>
          <p:nvPr/>
        </p:nvSpPr>
        <p:spPr>
          <a:xfrm>
            <a:off x="10363200" y="819150"/>
            <a:ext cx="1047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0E6651"/>
                </a:solidFill>
              </a:defRPr>
            </a:pPr>
            <a:r>
              <a:rPr sz="90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08 / 08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F497FD2-53F0-4DF8-9F68-5624ABB6079C}"/>
              </a:ext>
            </a:extLst>
          </p:cNvPr>
          <p:cNvSpPr>
            <a:spLocks noGrp="1"/>
          </p:cNvSpPr>
          <p:nvPr/>
        </p:nvSpPr>
        <p:spPr>
          <a:xfrm>
            <a:off x="876300" y="8191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E6651"/>
                </a:solidFill>
              </a:defRPr>
            </a:pPr>
            <a:r>
              <a:rPr sz="975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FINAL RESULTS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A334F5-F064-4D35-81F5-4B06BD85F5C4}"/>
              </a:ext>
            </a:extLst>
          </p:cNvPr>
          <p:cNvSpPr>
            <a:spLocks noGrp="1"/>
          </p:cNvSpPr>
          <p:nvPr/>
        </p:nvSpPr>
        <p:spPr>
          <a:xfrm>
            <a:off x="876300" y="1123950"/>
            <a:ext cx="7239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4212B"/>
                </a:solidFill>
              </a:defRPr>
            </a:pPr>
            <a:r>
              <a:rPr sz="25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Lasso Regression gave the best overall validation result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F02709-5125-4A7A-99BD-3E582167ED51}"/>
              </a:ext>
            </a:extLst>
          </p:cNvPr>
          <p:cNvSpPr>
            <a:spLocks noGrp="1"/>
          </p:cNvSpPr>
          <p:nvPr/>
        </p:nvSpPr>
        <p:spPr>
          <a:xfrm>
            <a:off x="895350" y="20193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24D"/>
                </a:solidFill>
              </a:defRPr>
            </a:pPr>
            <a:r>
              <a:rPr sz="1350" b="0">
                <a:solidFill>
                  <a:srgbClr val="33424D"/>
                </a:solidFill>
                <a:latin typeface="Lato"/>
                <a:ea typeface="Lato"/>
                <a:cs typeface="Lato"/>
              </a:rPr>
              <a:t>The three models performed very similarly, but lasso achieved the smallest RMSE and tied for the lowest MAE.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65C623B-82C1-4FEF-BDB3-AB481EE0DCA9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2667000" cy="400050"/>
          </a:xfrm>
          <a:prstGeom prst="roundRect">
            <a:avLst>
              <a:gd name="adj" fmla="val 19048"/>
            </a:avLst>
          </a:prstGeom>
          <a:solidFill>
            <a:srgbClr val="0E66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F4C96D-B2FA-4434-86FE-01BD7A19B82F}"/>
              </a:ext>
            </a:extLst>
          </p:cNvPr>
          <p:cNvSpPr>
            <a:spLocks noGrp="1"/>
          </p:cNvSpPr>
          <p:nvPr/>
        </p:nvSpPr>
        <p:spPr>
          <a:xfrm>
            <a:off x="876300" y="28765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Model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A3387F8-ABAB-4F83-9513-01035D0E4152}"/>
              </a:ext>
            </a:extLst>
          </p:cNvPr>
          <p:cNvSpPr>
            <a:spLocks noGrp="1"/>
          </p:cNvSpPr>
          <p:nvPr/>
        </p:nvSpPr>
        <p:spPr>
          <a:xfrm>
            <a:off x="3638550" y="2781300"/>
            <a:ext cx="1333500" cy="400050"/>
          </a:xfrm>
          <a:prstGeom prst="roundRect">
            <a:avLst>
              <a:gd name="adj" fmla="val 19048"/>
            </a:avLst>
          </a:prstGeom>
          <a:solidFill>
            <a:srgbClr val="0E66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11DF6E-B205-4121-A3E9-97395CE641A7}"/>
              </a:ext>
            </a:extLst>
          </p:cNvPr>
          <p:cNvSpPr>
            <a:spLocks noGrp="1"/>
          </p:cNvSpPr>
          <p:nvPr/>
        </p:nvSpPr>
        <p:spPr>
          <a:xfrm>
            <a:off x="3638550" y="28765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RMSE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CA71651-144B-46B0-80F0-7D301283E5CF}"/>
              </a:ext>
            </a:extLst>
          </p:cNvPr>
          <p:cNvSpPr>
            <a:spLocks noGrp="1"/>
          </p:cNvSpPr>
          <p:nvPr/>
        </p:nvSpPr>
        <p:spPr>
          <a:xfrm>
            <a:off x="5067300" y="2781300"/>
            <a:ext cx="1333500" cy="400050"/>
          </a:xfrm>
          <a:prstGeom prst="roundRect">
            <a:avLst>
              <a:gd name="adj" fmla="val 19048"/>
            </a:avLst>
          </a:prstGeom>
          <a:solidFill>
            <a:srgbClr val="0E66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59FEE1-D550-48BF-974F-052BA9099B9E}"/>
              </a:ext>
            </a:extLst>
          </p:cNvPr>
          <p:cNvSpPr>
            <a:spLocks noGrp="1"/>
          </p:cNvSpPr>
          <p:nvPr/>
        </p:nvSpPr>
        <p:spPr>
          <a:xfrm>
            <a:off x="5067300" y="28765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MAE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CAC4728-77FC-4789-B0C7-AA998C89E9F1}"/>
              </a:ext>
            </a:extLst>
          </p:cNvPr>
          <p:cNvSpPr>
            <a:spLocks noGrp="1"/>
          </p:cNvSpPr>
          <p:nvPr/>
        </p:nvSpPr>
        <p:spPr>
          <a:xfrm>
            <a:off x="6496050" y="2781300"/>
            <a:ext cx="1047750" cy="400050"/>
          </a:xfrm>
          <a:prstGeom prst="roundRect">
            <a:avLst>
              <a:gd name="adj" fmla="val 19048"/>
            </a:avLst>
          </a:prstGeom>
          <a:solidFill>
            <a:srgbClr val="0E66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9B56B6-5A7C-420C-A6EC-BFAAD687176D}"/>
              </a:ext>
            </a:extLst>
          </p:cNvPr>
          <p:cNvSpPr>
            <a:spLocks noGrp="1"/>
          </p:cNvSpPr>
          <p:nvPr/>
        </p:nvSpPr>
        <p:spPr>
          <a:xfrm>
            <a:off x="6496050" y="28765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R²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377D1F4-0DF9-4097-AA38-5388C0204C08}"/>
              </a:ext>
            </a:extLst>
          </p:cNvPr>
          <p:cNvSpPr>
            <a:spLocks noGrp="1"/>
          </p:cNvSpPr>
          <p:nvPr/>
        </p:nvSpPr>
        <p:spPr>
          <a:xfrm>
            <a:off x="876300" y="3295650"/>
            <a:ext cx="6667500" cy="552450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3E3F0F-B69E-4B6A-9C00-E70597F8813F}"/>
              </a:ext>
            </a:extLst>
          </p:cNvPr>
          <p:cNvSpPr>
            <a:spLocks noGrp="1"/>
          </p:cNvSpPr>
          <p:nvPr/>
        </p:nvSpPr>
        <p:spPr>
          <a:xfrm>
            <a:off x="876300" y="3295650"/>
            <a:ext cx="76200" cy="552450"/>
          </a:xfrm>
          <a:prstGeom prst="rect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9BB6CD-3244-40F0-8515-0AC60C1205E0}"/>
              </a:ext>
            </a:extLst>
          </p:cNvPr>
          <p:cNvSpPr>
            <a:spLocks noGrp="1"/>
          </p:cNvSpPr>
          <p:nvPr/>
        </p:nvSpPr>
        <p:spPr>
          <a:xfrm>
            <a:off x="1143000" y="3467100"/>
            <a:ext cx="2552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Linear Regression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E1107E5-66E0-4DD5-8F19-4A65158D0421}"/>
              </a:ext>
            </a:extLst>
          </p:cNvPr>
          <p:cNvSpPr>
            <a:spLocks noGrp="1"/>
          </p:cNvSpPr>
          <p:nvPr/>
        </p:nvSpPr>
        <p:spPr>
          <a:xfrm>
            <a:off x="3790950" y="34671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20.8815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31B61A-03EF-41E3-AAC7-11A80D14877F}"/>
              </a:ext>
            </a:extLst>
          </p:cNvPr>
          <p:cNvSpPr>
            <a:spLocks noGrp="1"/>
          </p:cNvSpPr>
          <p:nvPr/>
        </p:nvSpPr>
        <p:spPr>
          <a:xfrm>
            <a:off x="5219700" y="34671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16.9817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EF7F65-E03C-4A6A-9A8A-0E4233C92ED3}"/>
              </a:ext>
            </a:extLst>
          </p:cNvPr>
          <p:cNvSpPr>
            <a:spLocks noGrp="1"/>
          </p:cNvSpPr>
          <p:nvPr/>
        </p:nvSpPr>
        <p:spPr>
          <a:xfrm>
            <a:off x="6648450" y="34671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0.7441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69011EA-A60B-4068-A946-DD96F190E859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6667500" cy="552450"/>
          </a:xfrm>
          <a:prstGeom prst="roundRect">
            <a:avLst>
              <a:gd name="adj" fmla="val 13793"/>
            </a:avLst>
          </a:prstGeom>
          <a:solidFill>
            <a:srgbClr val="EAF7F1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28977C-A4EC-4662-97DC-86A585C3CCA4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76200" cy="55245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46905C-6B8F-414F-93E9-D3450643464E}"/>
              </a:ext>
            </a:extLst>
          </p:cNvPr>
          <p:cNvSpPr>
            <a:spLocks noGrp="1"/>
          </p:cNvSpPr>
          <p:nvPr/>
        </p:nvSpPr>
        <p:spPr>
          <a:xfrm>
            <a:off x="1143000" y="4152900"/>
            <a:ext cx="2552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4212B"/>
                </a:solidFill>
              </a:defRPr>
            </a:pPr>
            <a:r>
              <a:rPr sz="1200" b="1">
                <a:solidFill>
                  <a:srgbClr val="14212B"/>
                </a:solidFill>
                <a:latin typeface="Lato"/>
                <a:ea typeface="Lato"/>
                <a:cs typeface="Lato"/>
              </a:rPr>
              <a:t>Lasso Regression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C8FB490-17D2-4066-A5C9-016DC15B581B}"/>
              </a:ext>
            </a:extLst>
          </p:cNvPr>
          <p:cNvSpPr>
            <a:spLocks noGrp="1"/>
          </p:cNvSpPr>
          <p:nvPr/>
        </p:nvSpPr>
        <p:spPr>
          <a:xfrm>
            <a:off x="3790950" y="41529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4212B"/>
                </a:solidFill>
              </a:defRPr>
            </a:pPr>
            <a:r>
              <a:rPr sz="13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20.8805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E63EFB-65C9-42EA-933F-74212A9449EC}"/>
              </a:ext>
            </a:extLst>
          </p:cNvPr>
          <p:cNvSpPr>
            <a:spLocks noGrp="1"/>
          </p:cNvSpPr>
          <p:nvPr/>
        </p:nvSpPr>
        <p:spPr>
          <a:xfrm>
            <a:off x="5219700" y="41529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4212B"/>
                </a:solidFill>
              </a:defRPr>
            </a:pPr>
            <a:r>
              <a:rPr sz="13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16.9817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89E1EB-A088-40EB-8C47-7A12EBD19B01}"/>
              </a:ext>
            </a:extLst>
          </p:cNvPr>
          <p:cNvSpPr>
            <a:spLocks noGrp="1"/>
          </p:cNvSpPr>
          <p:nvPr/>
        </p:nvSpPr>
        <p:spPr>
          <a:xfrm>
            <a:off x="6648450" y="41529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4212B"/>
                </a:solidFill>
              </a:defRPr>
            </a:pPr>
            <a:r>
              <a:rPr sz="1350" b="1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0.7441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B71F8FE-6532-4591-8EF0-6D2D808ED2A1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6667500" cy="552450"/>
          </a:xfrm>
          <a:prstGeom prst="roundRect">
            <a:avLst>
              <a:gd name="adj" fmla="val 13793"/>
            </a:avLst>
          </a:prstGeom>
          <a:solidFill>
            <a:srgbClr val="FFFDF8"/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8E4456-DB64-434C-AF45-37EBB8C898A6}"/>
              </a:ext>
            </a:extLst>
          </p:cNvPr>
          <p:cNvSpPr>
            <a:spLocks noGrp="1"/>
          </p:cNvSpPr>
          <p:nvPr/>
        </p:nvSpPr>
        <p:spPr>
          <a:xfrm>
            <a:off x="876300" y="4667250"/>
            <a:ext cx="76200" cy="552450"/>
          </a:xfrm>
          <a:prstGeom prst="rect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7A0131-1C3F-434A-BD85-F176A7A725FA}"/>
              </a:ext>
            </a:extLst>
          </p:cNvPr>
          <p:cNvSpPr>
            <a:spLocks noGrp="1"/>
          </p:cNvSpPr>
          <p:nvPr/>
        </p:nvSpPr>
        <p:spPr>
          <a:xfrm>
            <a:off x="1143000" y="4838700"/>
            <a:ext cx="2552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Ridge Regression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71BE21-F660-4D77-8758-3B0557B4742D}"/>
              </a:ext>
            </a:extLst>
          </p:cNvPr>
          <p:cNvSpPr>
            <a:spLocks noGrp="1"/>
          </p:cNvSpPr>
          <p:nvPr/>
        </p:nvSpPr>
        <p:spPr>
          <a:xfrm>
            <a:off x="3790950" y="48387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20.8814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4B73CB1-91CA-4885-A855-E81C7C3C855B}"/>
              </a:ext>
            </a:extLst>
          </p:cNvPr>
          <p:cNvSpPr>
            <a:spLocks noGrp="1"/>
          </p:cNvSpPr>
          <p:nvPr/>
        </p:nvSpPr>
        <p:spPr>
          <a:xfrm>
            <a:off x="5219700" y="4838700"/>
            <a:ext cx="1333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16.9823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39C3FB2-89CE-4B21-BA5D-7BED7ACA9133}"/>
              </a:ext>
            </a:extLst>
          </p:cNvPr>
          <p:cNvSpPr>
            <a:spLocks noGrp="1"/>
          </p:cNvSpPr>
          <p:nvPr/>
        </p:nvSpPr>
        <p:spPr>
          <a:xfrm>
            <a:off x="6648450" y="48387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  <a:latin typeface="Poppins"/>
                <a:ea typeface="Poppins"/>
                <a:cs typeface="Poppins"/>
              </a:rPr>
              <a:t>0.7441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52F230A-A785-408F-B0D6-356889A5D902}"/>
              </a:ext>
            </a:extLst>
          </p:cNvPr>
          <p:cNvSpPr>
            <a:spLocks noGrp="1"/>
          </p:cNvSpPr>
          <p:nvPr/>
        </p:nvSpPr>
        <p:spPr>
          <a:xfrm>
            <a:off x="7753350" y="2781300"/>
            <a:ext cx="3638550" cy="1790700"/>
          </a:xfrm>
          <a:prstGeom prst="roundRect">
            <a:avLst>
              <a:gd name="adj" fmla="val 4255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EDF92F5-684C-4829-946E-C7EBFEB05622}"/>
              </a:ext>
            </a:extLst>
          </p:cNvPr>
          <p:cNvSpPr>
            <a:spLocks noGrp="1"/>
          </p:cNvSpPr>
          <p:nvPr/>
        </p:nvSpPr>
        <p:spPr>
          <a:xfrm>
            <a:off x="7753350" y="2781300"/>
            <a:ext cx="76200" cy="1790700"/>
          </a:xfrm>
          <a:prstGeom prst="rect">
            <a:avLst/>
          </a:prstGeom>
          <a:solidFill>
            <a:srgbClr val="1FA37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15246AE-DE85-44D0-B5DF-2C77EC148723}"/>
              </a:ext>
            </a:extLst>
          </p:cNvPr>
          <p:cNvSpPr>
            <a:spLocks noGrp="1"/>
          </p:cNvSpPr>
          <p:nvPr/>
        </p:nvSpPr>
        <p:spPr>
          <a:xfrm>
            <a:off x="8020050" y="2990850"/>
            <a:ext cx="3257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Best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7F0AA61-70A4-4944-960F-970C73DFD317}"/>
              </a:ext>
            </a:extLst>
          </p:cNvPr>
          <p:cNvSpPr>
            <a:spLocks noGrp="1"/>
          </p:cNvSpPr>
          <p:nvPr/>
        </p:nvSpPr>
        <p:spPr>
          <a:xfrm>
            <a:off x="8020050" y="3295650"/>
            <a:ext cx="3181350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Lasso Regression is the best model in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this comparison because it achieved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the lowest RMSE (20.8805 cycles) while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matching the lowest MAE. Its R² is</a:t>
            </a:r>
          </a:p>
          <a:p>
            <a:pPr algn="l">
              <a:defRPr sz="1200" b="0">
                <a:solidFill>
                  <a:srgbClr val="14212B"/>
                </a:solidFill>
              </a:defRPr>
            </a:pPr>
            <a:r>
              <a:rPr sz="120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also on par with the other two models.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C6D7002-FE4A-4620-8CD7-C35D2BF20999}"/>
              </a:ext>
            </a:extLst>
          </p:cNvPr>
          <p:cNvSpPr>
            <a:spLocks noGrp="1"/>
          </p:cNvSpPr>
          <p:nvPr/>
        </p:nvSpPr>
        <p:spPr>
          <a:xfrm>
            <a:off x="7753350" y="4610100"/>
            <a:ext cx="3638550" cy="1276350"/>
          </a:xfrm>
          <a:prstGeom prst="roundRect">
            <a:avLst>
              <a:gd name="adj" fmla="val 5970"/>
            </a:avLst>
          </a:prstGeom>
          <a:solidFill>
            <a:srgbClr val="FFFDF8">
              <a:alpha val="90980"/>
            </a:srgbClr>
          </a:solidFill>
          <a:ln w="11430">
            <a:solidFill>
              <a:srgbClr val="1C2C35">
                <a:alpha val="60000"/>
              </a:srgbClr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4B4740B-8EF0-4025-A5A2-D1AF3CD4D13C}"/>
              </a:ext>
            </a:extLst>
          </p:cNvPr>
          <p:cNvSpPr>
            <a:spLocks noGrp="1"/>
          </p:cNvSpPr>
          <p:nvPr/>
        </p:nvSpPr>
        <p:spPr>
          <a:xfrm>
            <a:off x="7753350" y="4610100"/>
            <a:ext cx="76200" cy="1276350"/>
          </a:xfrm>
          <a:prstGeom prst="rect">
            <a:avLst/>
          </a:prstGeom>
          <a:solidFill>
            <a:srgbClr val="D4A24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D27B4FD-D3D9-47C3-9307-202C4935E917}"/>
              </a:ext>
            </a:extLst>
          </p:cNvPr>
          <p:cNvSpPr>
            <a:spLocks noGrp="1"/>
          </p:cNvSpPr>
          <p:nvPr/>
        </p:nvSpPr>
        <p:spPr>
          <a:xfrm>
            <a:off x="8020050" y="4819650"/>
            <a:ext cx="3257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6651"/>
                </a:solidFill>
              </a:defRPr>
            </a:pPr>
            <a:r>
              <a:rPr sz="1050" b="1">
                <a:solidFill>
                  <a:srgbClr val="0E6651"/>
                </a:solidFill>
                <a:latin typeface="Aptos Mono"/>
                <a:ea typeface="Aptos Mono"/>
                <a:cs typeface="Aptos Mono"/>
              </a:rPr>
              <a:t>Interpretation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FCB6A55-DDCA-4DCA-AD0C-5EFDE1D18FD0}"/>
              </a:ext>
            </a:extLst>
          </p:cNvPr>
          <p:cNvSpPr>
            <a:spLocks noGrp="1"/>
          </p:cNvSpPr>
          <p:nvPr/>
        </p:nvSpPr>
        <p:spPr>
          <a:xfrm>
            <a:off x="8020050" y="5124450"/>
            <a:ext cx="31813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Scores are nearly identical, so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feature engineering contributes more</a:t>
            </a:r>
          </a:p>
          <a:p>
            <a:pPr algn="l">
              <a:defRPr sz="1050" b="0">
                <a:solidFill>
                  <a:srgbClr val="14212B"/>
                </a:solidFill>
              </a:defRPr>
            </a:pPr>
            <a:r>
              <a:rPr sz="1050" b="0">
                <a:solidFill>
                  <a:srgbClr val="14212B"/>
                </a:solidFill>
                <a:latin typeface="Lato"/>
                <a:ea typeface="Lato"/>
                <a:cs typeface="Lato"/>
              </a:rPr>
              <a:t>than regularization to final accuracy.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1FAA02D-2FFE-484C-9DDE-583CB0F3BBB2}"/>
              </a:ext>
            </a:extLst>
          </p:cNvPr>
          <p:cNvSpPr>
            <a:spLocks noGrp="1"/>
          </p:cNvSpPr>
          <p:nvPr/>
        </p:nvSpPr>
        <p:spPr>
          <a:xfrm>
            <a:off x="876300" y="5981700"/>
            <a:ext cx="723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5737D"/>
                </a:solidFill>
              </a:defRPr>
            </a:pPr>
            <a:r>
              <a:rPr sz="750" b="0">
                <a:solidFill>
                  <a:srgbClr val="65737D"/>
                </a:solidFill>
                <a:latin typeface="Lato"/>
                <a:ea typeface="Lato"/>
                <a:cs typeface="Lato"/>
              </a:rPr>
              <a:t>Source: metrics recomputed from train_FD001_engineered.csv with the same engine split</a:t>
            </a:r>
          </a:p>
        </p:txBody>
      </p:sp>
    </p:spTree>
    <p:extLst>
      <p:ext uri="{BB962C8B-B14F-4D97-AF65-F5344CB8AC3E}">
        <p14:creationId xmlns:p14="http://schemas.microsoft.com/office/powerpoint/2010/main" val="6581980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1436</Words>
  <Application>Microsoft Office PowerPoint</Application>
  <DocSecurity>0</DocSecurity>
  <PresentationFormat>Widescreen</PresentationFormat>
  <Paragraphs>239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 Mono</vt:lpstr>
      <vt:lpstr>Calibri</vt:lpstr>
      <vt:lpstr>Lato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Baibhab Chowdhury</cp:lastModifiedBy>
  <cp:revision>1</cp:revision>
  <dcterms:created xsi:type="dcterms:W3CDTF">2026-05-08T18:07:28Z</dcterms:created>
  <dcterms:modified xsi:type="dcterms:W3CDTF">2026-05-08T18:33:47Z</dcterms:modified>
</cp:coreProperties>
</file>